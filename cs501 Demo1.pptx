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8" r:id="rId2"/>
    <p:sldId id="289" r:id="rId3"/>
    <p:sldId id="292" r:id="rId4"/>
    <p:sldId id="297" r:id="rId5"/>
    <p:sldId id="257" r:id="rId6"/>
    <p:sldId id="260" r:id="rId7"/>
    <p:sldId id="261" r:id="rId8"/>
    <p:sldId id="295" r:id="rId9"/>
    <p:sldId id="296" r:id="rId10"/>
    <p:sldId id="293" r:id="rId11"/>
    <p:sldId id="294" r:id="rId12"/>
    <p:sldId id="29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19" autoAdjust="0"/>
  </p:normalViewPr>
  <p:slideViewPr>
    <p:cSldViewPr snapToGrid="0">
      <p:cViewPr varScale="1">
        <p:scale>
          <a:sx n="87" d="100"/>
          <a:sy n="87" d="100"/>
        </p:scale>
        <p:origin x="52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D110A-9CF1-4EF5-8068-64B4DE6CF48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39CB8-6A4D-410E-AE32-A931C305A9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53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9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66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04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20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434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BE7B0-5864-0AC7-BE17-88ED8AC0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A6D8A7-2D5B-7711-A6A4-F4BAE93E1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C2E5B5-8ECC-598B-FB90-5ADEE88D5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C8620-124A-6EC5-D12E-815A6CBDA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3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385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C588-64F6-9F8E-8B58-C225D290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8C382C-97F1-3EA1-375C-91FE94DA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17BD49-C1F8-C429-F9A9-34858B43A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F89F7-20A5-75D8-12BA-8CDEC5B49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49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C614A-4F87-6E69-D153-A0361F2B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D49AC3-5D6F-0524-EBE9-EC826E0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82DF0-DF9F-1AF0-258A-521084F6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91E4E-3510-4950-837A-30160B21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7058C-DD54-7ECE-6B7C-669D4E40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47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78994-1DC8-93B9-AE60-4B591397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9843D-C39E-77A6-DC00-4626CD5C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52775-8115-0756-2F84-1FA5609A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C70C2-B473-59F9-9953-10E3186B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B8D9E-9024-937A-7E2F-2D772F68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0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D7DAA-740D-3CE0-5AEA-ECE884C4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B5C1AD-9032-C7B4-BEB7-0BA757D1A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1FE28-D549-121D-8863-77B00332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60577-E59E-C5C5-EC62-F014F511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50559F-AA7B-6F87-89D6-C4F4A72C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4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F95D-2670-593B-6BF3-B6CA0682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059E3-BC5F-A93C-52FE-C415575F2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CB84A9-80A9-A6AE-DAEB-ABA96AF8A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30774-0513-FAD1-0F2D-F1395182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11388C-5C4C-51E1-EBAB-6D584B69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26EFF1-B7E5-E4A8-313B-9B93A672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0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5CBEC-FEA4-AE33-E663-B1619D38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5791C5-2EAB-E490-2776-741A069E2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5CAB28-E6E9-A54E-EC3E-EC8ED28A2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BF99B5-7BE7-802B-C840-1A0FF13A5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7128B7-63D1-0095-8EC8-A76FE4D69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62913B-3631-EDEC-7BED-F6F3B183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757BAC-FCB0-9764-236F-BD951DE2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2537C5-7E1C-117D-052B-270F8DFC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07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420AF-E789-F116-B208-8601D478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AB308A-FE1E-BABC-49B0-2529697C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E859C8-2B97-DD2D-6380-A19ABEB2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B4A2FE-DEB4-DD6F-5644-EF5CA44F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38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341D51-0262-FA7A-96FE-A9127483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B1601F-752D-B59A-6963-B51FD487E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A3D3C-6508-D4F8-CABC-06E218A8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21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F5223-7F0F-AA3C-7D42-49796186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042412-EFA1-FC52-5440-A2E07171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2A5CA2-569D-1AA7-B47F-FF243E440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0D8B0-61D8-8F78-5D05-179BFA99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5E12E0-B0AE-B75C-B4D7-44645010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4C4296-2886-A2D2-FA1B-F0A333D6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9597E-A54C-D426-7810-0DA3C731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09BA71-E933-28EC-EE11-6C6B370D2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5DC8C5-7C78-B08A-E7DB-FA756B235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36FB89-51B5-201D-A6E6-87EA1BDC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8F2EA3-ABAC-57B1-7E62-1F15DE3F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78E8E0-BC82-6545-BD76-9E1EBF64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53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C320D-663B-0518-5070-9178A2E2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0FB65A-6DFE-8F2B-52CF-F94D4168C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25B84-97D6-536D-A6EA-EA4F72D2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8B4600-D9F0-421C-CF8C-898728CC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5D945-9E31-1B64-DDC6-9EA6653A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40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A04D36-8765-4F22-6EEB-D39841BA0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CCAFD0-5EBB-C3C5-E968-0EBB8DABA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3A667-1E44-446F-315F-51D077C1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42247-EB7F-F0B8-0469-B9E711CF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447AE-8E2A-3C6C-E09B-C509B7C0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75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63220">
              <a:lnSpc>
                <a:spcPct val="100000"/>
              </a:lnSpc>
              <a:spcBef>
                <a:spcPts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11715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784677-64E7-DBAA-8C2D-F3206D10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787585-2445-37D7-C34A-73EF62E55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DA445-2050-E2BD-79A7-01DECF9CE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D2BDD-B491-4712-BE2C-E289FEB30588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D0B8FE-9DC3-5F24-A509-29049B537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CE9D4-74DC-87CE-A9A5-1E9967C1E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3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ChloeCLY/CS501-Project-DealTrack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4C638-6660-1663-F23F-42630C27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64E102B9-2EB2-F8F7-5A4C-7100BD9E9B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3D7B23-81C2-2327-38C9-EF7D07323790}"/>
              </a:ext>
            </a:extLst>
          </p:cNvPr>
          <p:cNvSpPr txBox="1"/>
          <p:nvPr/>
        </p:nvSpPr>
        <p:spPr>
          <a:xfrm>
            <a:off x="1391771" y="3261489"/>
            <a:ext cx="9679459" cy="123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— Interim Project Presentation 1 </a:t>
            </a:r>
          </a:p>
          <a:p>
            <a:pPr algn="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  <a:hlinkClick r:id="rId3"/>
              </a:rPr>
              <a:t>https://github.com/buChloeCLY/CS501-Project-DealTracker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01FD4A-E061-4B7E-4E37-1D2B9CE2C4E0}"/>
              </a:ext>
            </a:extLst>
          </p:cNvPr>
          <p:cNvSpPr txBox="1"/>
          <p:nvPr/>
        </p:nvSpPr>
        <p:spPr>
          <a:xfrm>
            <a:off x="2177585" y="1678800"/>
            <a:ext cx="78368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 err="1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DealTracker</a:t>
            </a:r>
            <a:endParaRPr lang="en-US" altLang="zh-CN" sz="8800" b="1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453457-EF86-37F9-7370-35566CCA65BB}"/>
              </a:ext>
            </a:extLst>
          </p:cNvPr>
          <p:cNvSpPr/>
          <p:nvPr/>
        </p:nvSpPr>
        <p:spPr>
          <a:xfrm>
            <a:off x="5191735" y="5392919"/>
            <a:ext cx="5879496" cy="36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Team: Leyan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Yijia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Juling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Fan</a:t>
            </a:r>
          </a:p>
        </p:txBody>
      </p:sp>
    </p:spTree>
    <p:extLst>
      <p:ext uri="{BB962C8B-B14F-4D97-AF65-F5344CB8AC3E}">
        <p14:creationId xmlns:p14="http://schemas.microsoft.com/office/powerpoint/2010/main" val="342666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1027-7C28-8F18-4A05-34852D29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01B5DB9B-6BDD-092B-5EC0-FD1F3C9988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文本&#10;&#10;AI 生成的内容可能不正确。">
            <a:extLst>
              <a:ext uri="{FF2B5EF4-FFF2-40B4-BE49-F238E27FC236}">
                <a16:creationId xmlns:a16="http://schemas.microsoft.com/office/drawing/2014/main" id="{4D0F0DCC-E8B0-9087-6CFF-5EA04E8C9F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6150" r="211" b="6123"/>
          <a:stretch>
            <a:fillRect/>
          </a:stretch>
        </p:blipFill>
        <p:spPr>
          <a:xfrm>
            <a:off x="881939" y="1135665"/>
            <a:ext cx="9563735" cy="1783080"/>
          </a:xfrm>
          <a:prstGeom prst="rect">
            <a:avLst/>
          </a:prstGeom>
        </p:spPr>
      </p:pic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369A895F-42FE-8ED4-200A-77BF6B605F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36" b="2937"/>
          <a:stretch>
            <a:fillRect/>
          </a:stretch>
        </p:blipFill>
        <p:spPr>
          <a:xfrm>
            <a:off x="881939" y="3133948"/>
            <a:ext cx="8161655" cy="33909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117E1C-F783-9226-8C47-D73A5B1E5FA7}"/>
              </a:ext>
            </a:extLst>
          </p:cNvPr>
          <p:cNvSpPr txBox="1"/>
          <p:nvPr/>
        </p:nvSpPr>
        <p:spPr>
          <a:xfrm>
            <a:off x="716089" y="397243"/>
            <a:ext cx="4692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Backend Setup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39098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D64E-F9CD-AA59-1563-A7F494A8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F248665A-6C3D-160D-6107-34024F786A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9B8FE83-7172-EBEF-ABB8-400BB29AFE73}"/>
              </a:ext>
            </a:extLst>
          </p:cNvPr>
          <p:cNvSpPr txBox="1"/>
          <p:nvPr/>
        </p:nvSpPr>
        <p:spPr>
          <a:xfrm>
            <a:off x="716089" y="397243"/>
            <a:ext cx="1852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Live demo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0761A7-C590-7716-D285-6DD413791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331" y="568757"/>
            <a:ext cx="5099337" cy="57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6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0CBF-5067-EC5A-F356-0127AE01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0709896-3A3C-2238-0AB0-92E54A75E3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FB37825-B0CC-B99E-15A6-CB3B9D30A799}"/>
              </a:ext>
            </a:extLst>
          </p:cNvPr>
          <p:cNvSpPr txBox="1"/>
          <p:nvPr/>
        </p:nvSpPr>
        <p:spPr>
          <a:xfrm>
            <a:off x="716089" y="397243"/>
            <a:ext cx="469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Recap of Proposal </a:t>
            </a:r>
            <a:endParaRPr lang="zh-CN" altLang="en-US" sz="2400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CF1FE86-365D-50FD-9713-60FD40661EC0}"/>
              </a:ext>
            </a:extLst>
          </p:cNvPr>
          <p:cNvSpPr txBox="1">
            <a:spLocks/>
          </p:cNvSpPr>
          <p:nvPr/>
        </p:nvSpPr>
        <p:spPr>
          <a:xfrm>
            <a:off x="712574" y="1031314"/>
            <a:ext cx="11279062" cy="22252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b="1" noProof="1"/>
              <a:t>“Deals of the Day” Section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1800" noProof="1"/>
              <a:t>Products sorted by 24-hour price drops.                     Personalized recommendations based on user wishlist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b="1" noProof="1"/>
              <a:t>API Strategy Optimization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1800" noProof="1"/>
              <a:t>Multiple official e-commerce APIs.                           Unified RapidAPI integration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altLang="zh-CN" sz="2000" noProof="1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US" altLang="zh-CN" sz="2000" noProof="1"/>
          </a:p>
        </p:txBody>
      </p:sp>
      <p:sp>
        <p:nvSpPr>
          <p:cNvPr id="5" name="线条">
            <a:extLst>
              <a:ext uri="{FF2B5EF4-FFF2-40B4-BE49-F238E27FC236}">
                <a16:creationId xmlns:a16="http://schemas.microsoft.com/office/drawing/2014/main" id="{D03DEF61-0A08-E7B0-616B-EF2075B69E43}"/>
              </a:ext>
            </a:extLst>
          </p:cNvPr>
          <p:cNvSpPr/>
          <p:nvPr/>
        </p:nvSpPr>
        <p:spPr>
          <a:xfrm>
            <a:off x="5202269" y="1908761"/>
            <a:ext cx="482135" cy="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7" name="线条">
            <a:extLst>
              <a:ext uri="{FF2B5EF4-FFF2-40B4-BE49-F238E27FC236}">
                <a16:creationId xmlns:a16="http://schemas.microsoft.com/office/drawing/2014/main" id="{8A74C8A1-4340-4D88-1ABF-8A811A7EA763}"/>
              </a:ext>
            </a:extLst>
          </p:cNvPr>
          <p:cNvSpPr/>
          <p:nvPr/>
        </p:nvSpPr>
        <p:spPr>
          <a:xfrm>
            <a:off x="4812304" y="3009178"/>
            <a:ext cx="482135" cy="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B9D785-2260-447C-E502-95717D065982}"/>
              </a:ext>
            </a:extLst>
          </p:cNvPr>
          <p:cNvSpPr txBox="1"/>
          <p:nvPr/>
        </p:nvSpPr>
        <p:spPr>
          <a:xfrm>
            <a:off x="712574" y="3601404"/>
            <a:ext cx="469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Team workflow</a:t>
            </a:r>
            <a:endParaRPr lang="zh-CN" altLang="en-US" sz="2400" b="1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F19DF2F-8EA3-4555-5DE4-4594340B967D}"/>
              </a:ext>
            </a:extLst>
          </p:cNvPr>
          <p:cNvSpPr txBox="1">
            <a:spLocks/>
          </p:cNvSpPr>
          <p:nvPr/>
        </p:nvSpPr>
        <p:spPr>
          <a:xfrm>
            <a:off x="712574" y="4234834"/>
            <a:ext cx="11279062" cy="23260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b="1" noProof="1"/>
              <a:t>UI → Database → API</a:t>
            </a:r>
            <a:endParaRPr lang="en-US" altLang="zh-CN" sz="1800" noProof="1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noProof="1"/>
              <a:t>Maintained feature branches for each major screen and backend modules.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noProof="1"/>
              <a:t>Tracked issues for bug reports, feature requests, and review notes.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800" noProof="1"/>
              <a:t>Used Pull Requests for code review before merging.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CEC5129-B2EC-5646-2BF8-A0E5A7398A8A}"/>
              </a:ext>
            </a:extLst>
          </p:cNvPr>
          <p:cNvCxnSpPr>
            <a:cxnSpLocks/>
          </p:cNvCxnSpPr>
          <p:nvPr/>
        </p:nvCxnSpPr>
        <p:spPr>
          <a:xfrm>
            <a:off x="349624" y="3429000"/>
            <a:ext cx="1144344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6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8121966-7F85-A46B-D18E-3667EF846C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圆角矩形"/>
          <p:cNvSpPr/>
          <p:nvPr/>
        </p:nvSpPr>
        <p:spPr>
          <a:xfrm>
            <a:off x="4243025" y="4823179"/>
            <a:ext cx="2524919" cy="91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" y="21600"/>
                </a:moveTo>
                <a:lnTo>
                  <a:pt x="20609" y="21600"/>
                </a:lnTo>
                <a:cubicBezTo>
                  <a:pt x="20900" y="21600"/>
                  <a:pt x="21074" y="21600"/>
                  <a:pt x="21191" y="21466"/>
                </a:cubicBezTo>
                <a:cubicBezTo>
                  <a:pt x="21358" y="21297"/>
                  <a:pt x="21490" y="20932"/>
                  <a:pt x="21551" y="20469"/>
                </a:cubicBezTo>
                <a:cubicBezTo>
                  <a:pt x="21600" y="20148"/>
                  <a:pt x="21600" y="19665"/>
                  <a:pt x="21600" y="18862"/>
                </a:cubicBezTo>
                <a:lnTo>
                  <a:pt x="21600" y="2738"/>
                </a:lnTo>
                <a:cubicBezTo>
                  <a:pt x="21600" y="1935"/>
                  <a:pt x="21600" y="1452"/>
                  <a:pt x="21551" y="1131"/>
                </a:cubicBezTo>
                <a:cubicBezTo>
                  <a:pt x="21490" y="668"/>
                  <a:pt x="21358" y="303"/>
                  <a:pt x="21191" y="134"/>
                </a:cubicBezTo>
                <a:cubicBezTo>
                  <a:pt x="21074" y="0"/>
                  <a:pt x="20900" y="0"/>
                  <a:pt x="20609" y="0"/>
                </a:cubicBezTo>
                <a:lnTo>
                  <a:pt x="991" y="0"/>
                </a:lnTo>
                <a:cubicBezTo>
                  <a:pt x="700" y="0"/>
                  <a:pt x="526" y="0"/>
                  <a:pt x="409" y="134"/>
                </a:cubicBezTo>
                <a:cubicBezTo>
                  <a:pt x="242" y="303"/>
                  <a:pt x="110" y="668"/>
                  <a:pt x="49" y="1131"/>
                </a:cubicBezTo>
                <a:cubicBezTo>
                  <a:pt x="0" y="1452"/>
                  <a:pt x="0" y="1935"/>
                  <a:pt x="0" y="2738"/>
                </a:cubicBezTo>
                <a:lnTo>
                  <a:pt x="0" y="18862"/>
                </a:lnTo>
                <a:cubicBezTo>
                  <a:pt x="0" y="19665"/>
                  <a:pt x="0" y="20148"/>
                  <a:pt x="49" y="20469"/>
                </a:cubicBezTo>
                <a:cubicBezTo>
                  <a:pt x="110" y="20932"/>
                  <a:pt x="242" y="21297"/>
                  <a:pt x="409" y="21466"/>
                </a:cubicBezTo>
                <a:cubicBezTo>
                  <a:pt x="526" y="21600"/>
                  <a:pt x="700" y="21600"/>
                  <a:pt x="991" y="21600"/>
                </a:cubicBezTo>
                <a:close/>
              </a:path>
            </a:pathLst>
          </a:custGeom>
          <a:solidFill>
            <a:srgbClr val="45A4D1">
              <a:alpha val="14221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56" name="RetroClient1"/>
          <p:cNvSpPr/>
          <p:nvPr/>
        </p:nvSpPr>
        <p:spPr>
          <a:xfrm>
            <a:off x="4574230" y="2226572"/>
            <a:ext cx="1452926" cy="529241"/>
          </a:xfrm>
          <a:prstGeom prst="roundRect">
            <a:avLst>
              <a:gd name="adj" fmla="val 15000"/>
            </a:avLst>
          </a:prstGeom>
          <a:solidFill>
            <a:srgbClr val="D1CA30">
              <a:alpha val="49333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sz="1600" dirty="0"/>
              <a:t>RetroClient1</a:t>
            </a:r>
          </a:p>
        </p:txBody>
      </p:sp>
      <p:sp>
        <p:nvSpPr>
          <p:cNvPr id="157" name="RetroClient2"/>
          <p:cNvSpPr/>
          <p:nvPr/>
        </p:nvSpPr>
        <p:spPr>
          <a:xfrm>
            <a:off x="4571496" y="3522418"/>
            <a:ext cx="1455660" cy="523215"/>
          </a:xfrm>
          <a:prstGeom prst="roundRect">
            <a:avLst>
              <a:gd name="adj" fmla="val 15000"/>
            </a:avLst>
          </a:prstGeom>
          <a:solidFill>
            <a:srgbClr val="D1CA30">
              <a:alpha val="49333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sz="1600" dirty="0"/>
              <a:t>RetroClient2</a:t>
            </a:r>
          </a:p>
        </p:txBody>
      </p:sp>
      <p:sp>
        <p:nvSpPr>
          <p:cNvPr id="158" name="Database  (MySQL)"/>
          <p:cNvSpPr/>
          <p:nvPr/>
        </p:nvSpPr>
        <p:spPr>
          <a:xfrm>
            <a:off x="1128484" y="2039400"/>
            <a:ext cx="1331412" cy="3857950"/>
          </a:xfrm>
          <a:prstGeom prst="roundRect">
            <a:avLst>
              <a:gd name="adj" fmla="val 5198"/>
            </a:avLst>
          </a:prstGeom>
          <a:solidFill>
            <a:srgbClr val="4CD1AC">
              <a:alpha val="49333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/>
          <a:p>
            <a:pPr algn="ctr" defTabSz="41275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sz="1600" dirty="0"/>
              <a:t>Database </a:t>
            </a:r>
            <a:br>
              <a:rPr sz="1600" dirty="0"/>
            </a:br>
            <a:r>
              <a:rPr sz="1600" dirty="0"/>
              <a:t>(MySQL)</a:t>
            </a:r>
          </a:p>
        </p:txBody>
      </p:sp>
      <p:sp>
        <p:nvSpPr>
          <p:cNvPr id="159" name="线条"/>
          <p:cNvSpPr/>
          <p:nvPr/>
        </p:nvSpPr>
        <p:spPr>
          <a:xfrm>
            <a:off x="2630859" y="2655072"/>
            <a:ext cx="185428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0" name="History…"/>
          <p:cNvSpPr txBox="1"/>
          <p:nvPr/>
        </p:nvSpPr>
        <p:spPr>
          <a:xfrm>
            <a:off x="2981661" y="2218752"/>
            <a:ext cx="1267767" cy="274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defRPr sz="2900" b="1"/>
            </a:pPr>
            <a:r>
              <a:rPr sz="1450" dirty="0"/>
              <a:t>History</a:t>
            </a:r>
            <a:r>
              <a:rPr lang="en-US" sz="1450" dirty="0"/>
              <a:t> </a:t>
            </a:r>
            <a:r>
              <a:rPr sz="1450" dirty="0"/>
              <a:t>prices</a:t>
            </a:r>
          </a:p>
        </p:txBody>
      </p:sp>
      <p:sp>
        <p:nvSpPr>
          <p:cNvPr id="161" name="线条"/>
          <p:cNvSpPr/>
          <p:nvPr/>
        </p:nvSpPr>
        <p:spPr>
          <a:xfrm flipH="1" flipV="1">
            <a:off x="2674885" y="5290280"/>
            <a:ext cx="1512634" cy="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2" name="Everday…"/>
          <p:cNvSpPr txBox="1"/>
          <p:nvPr/>
        </p:nvSpPr>
        <p:spPr>
          <a:xfrm>
            <a:off x="2674885" y="4792733"/>
            <a:ext cx="1320199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defRPr sz="2900" b="1"/>
            </a:pPr>
            <a:r>
              <a:rPr sz="1400" dirty="0"/>
              <a:t>Ever</a:t>
            </a:r>
            <a:r>
              <a:rPr lang="en-US" altLang="zh-CN" sz="1400" dirty="0"/>
              <a:t>y</a:t>
            </a:r>
            <a:r>
              <a:rPr sz="1400" dirty="0"/>
              <a:t>day</a:t>
            </a:r>
            <a:r>
              <a:rPr lang="en-US" sz="1400" dirty="0"/>
              <a:t> </a:t>
            </a:r>
            <a:r>
              <a:rPr sz="1400" dirty="0"/>
              <a:t>prices</a:t>
            </a:r>
          </a:p>
        </p:txBody>
      </p:sp>
      <p:sp>
        <p:nvSpPr>
          <p:cNvPr id="163" name="Amazon"/>
          <p:cNvSpPr/>
          <p:nvPr/>
        </p:nvSpPr>
        <p:spPr>
          <a:xfrm>
            <a:off x="4435460" y="4982747"/>
            <a:ext cx="881917" cy="586153"/>
          </a:xfrm>
          <a:prstGeom prst="roundRect">
            <a:avLst>
              <a:gd name="adj" fmla="val 10227"/>
            </a:avLst>
          </a:prstGeom>
          <a:solidFill>
            <a:srgbClr val="45A4D1">
              <a:alpha val="49333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sz="1600" dirty="0"/>
              <a:t>Amazon</a:t>
            </a:r>
          </a:p>
        </p:txBody>
      </p:sp>
      <p:sp>
        <p:nvSpPr>
          <p:cNvPr id="164" name="…"/>
          <p:cNvSpPr txBox="1"/>
          <p:nvPr/>
        </p:nvSpPr>
        <p:spPr>
          <a:xfrm>
            <a:off x="7127573" y="5122285"/>
            <a:ext cx="243656" cy="335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 sz="3700" b="1"/>
            </a:lvl1pPr>
          </a:lstStyle>
          <a:p>
            <a:r>
              <a:rPr sz="1850" dirty="0"/>
              <a:t>…</a:t>
            </a:r>
          </a:p>
        </p:txBody>
      </p:sp>
      <p:sp>
        <p:nvSpPr>
          <p:cNvPr id="165" name="线条"/>
          <p:cNvSpPr/>
          <p:nvPr/>
        </p:nvSpPr>
        <p:spPr>
          <a:xfrm>
            <a:off x="5408739" y="4097985"/>
            <a:ext cx="2734" cy="672842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6" name="线条"/>
          <p:cNvSpPr/>
          <p:nvPr/>
        </p:nvSpPr>
        <p:spPr>
          <a:xfrm flipV="1">
            <a:off x="2635936" y="3900365"/>
            <a:ext cx="1821081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7" name="Today’s…"/>
          <p:cNvSpPr txBox="1"/>
          <p:nvPr/>
        </p:nvSpPr>
        <p:spPr>
          <a:xfrm>
            <a:off x="2923709" y="3509591"/>
            <a:ext cx="1245534" cy="274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defRPr sz="2900" b="1"/>
            </a:pPr>
            <a:r>
              <a:rPr sz="1450" dirty="0"/>
              <a:t>Today’s</a:t>
            </a:r>
            <a:r>
              <a:rPr lang="en-US" sz="1450" dirty="0"/>
              <a:t> </a:t>
            </a:r>
            <a:r>
              <a:rPr sz="1450" dirty="0"/>
              <a:t>prices</a:t>
            </a:r>
          </a:p>
        </p:txBody>
      </p:sp>
      <p:sp>
        <p:nvSpPr>
          <p:cNvPr id="168" name="线条"/>
          <p:cNvSpPr/>
          <p:nvPr/>
        </p:nvSpPr>
        <p:spPr>
          <a:xfrm>
            <a:off x="6111674" y="2475209"/>
            <a:ext cx="2310747" cy="11153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69" name="Walmart"/>
          <p:cNvSpPr/>
          <p:nvPr/>
        </p:nvSpPr>
        <p:spPr>
          <a:xfrm>
            <a:off x="5648579" y="4982746"/>
            <a:ext cx="881916" cy="586153"/>
          </a:xfrm>
          <a:prstGeom prst="roundRect">
            <a:avLst>
              <a:gd name="adj" fmla="val 10227"/>
            </a:avLst>
          </a:prstGeom>
          <a:solidFill>
            <a:srgbClr val="45A4D1">
              <a:alpha val="49333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/>
            <a:r>
              <a:rPr sz="1600" dirty="0"/>
              <a:t>Walmart</a:t>
            </a:r>
          </a:p>
        </p:txBody>
      </p:sp>
      <p:grpSp>
        <p:nvGrpSpPr>
          <p:cNvPr id="172" name="成组"/>
          <p:cNvGrpSpPr/>
          <p:nvPr/>
        </p:nvGrpSpPr>
        <p:grpSpPr>
          <a:xfrm>
            <a:off x="8521012" y="4627729"/>
            <a:ext cx="2471553" cy="1709052"/>
            <a:chOff x="0" y="0"/>
            <a:chExt cx="4943104" cy="3418102"/>
          </a:xfrm>
        </p:grpSpPr>
        <p:sp>
          <p:nvSpPr>
            <p:cNvPr id="170" name="Deals Page &amp; Home Page"/>
            <p:cNvSpPr/>
            <p:nvPr/>
          </p:nvSpPr>
          <p:spPr>
            <a:xfrm>
              <a:off x="0" y="0"/>
              <a:ext cx="4943105" cy="510754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Autofit/>
            </a:bodyPr>
            <a:lstStyle>
              <a:lvl1pPr defTabSz="825500">
                <a:defRPr sz="2700" b="1">
                  <a:solidFill>
                    <a:srgbClr val="000000"/>
                  </a:solidFill>
                </a:defRPr>
              </a:lvl1pPr>
            </a:lstStyle>
            <a:p>
              <a:r>
                <a:rPr sz="1350"/>
                <a:t>Deals Page &amp; Home Page</a:t>
              </a:r>
            </a:p>
          </p:txBody>
        </p:sp>
        <p:pic>
          <p:nvPicPr>
            <p:cNvPr id="171" name="截屏2025-11-10 20.54.06.png" descr="截屏2025-11-10 20.54.06.png"/>
            <p:cNvPicPr>
              <a:picLocks noChangeAspect="1"/>
            </p:cNvPicPr>
            <p:nvPr/>
          </p:nvPicPr>
          <p:blipFill>
            <a:blip r:embed="rId4"/>
            <a:srcRect l="4756" t="5630" r="19544" b="47719"/>
            <a:stretch>
              <a:fillRect/>
            </a:stretch>
          </p:blipFill>
          <p:spPr>
            <a:xfrm>
              <a:off x="0" y="612353"/>
              <a:ext cx="4943105" cy="28057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3" name="线条"/>
          <p:cNvSpPr/>
          <p:nvPr/>
        </p:nvSpPr>
        <p:spPr>
          <a:xfrm>
            <a:off x="6155188" y="3800487"/>
            <a:ext cx="2094628" cy="140287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grpSp>
        <p:nvGrpSpPr>
          <p:cNvPr id="176" name="成组"/>
          <p:cNvGrpSpPr/>
          <p:nvPr/>
        </p:nvGrpSpPr>
        <p:grpSpPr>
          <a:xfrm>
            <a:off x="8503115" y="1788014"/>
            <a:ext cx="2188425" cy="2653049"/>
            <a:chOff x="0" y="0"/>
            <a:chExt cx="5229831" cy="6407614"/>
          </a:xfrm>
        </p:grpSpPr>
        <p:sp>
          <p:nvSpPr>
            <p:cNvPr id="174" name="Detail Page"/>
            <p:cNvSpPr/>
            <p:nvPr/>
          </p:nvSpPr>
          <p:spPr>
            <a:xfrm>
              <a:off x="0" y="0"/>
              <a:ext cx="5229829" cy="510754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Autofit/>
            </a:bodyPr>
            <a:lstStyle>
              <a:lvl1pPr defTabSz="825500">
                <a:defRPr sz="2700" b="1">
                  <a:solidFill>
                    <a:srgbClr val="000000"/>
                  </a:solidFill>
                </a:defRPr>
              </a:lvl1pPr>
            </a:lstStyle>
            <a:p>
              <a:r>
                <a:rPr sz="1350"/>
                <a:t>Detail Page</a:t>
              </a:r>
            </a:p>
          </p:txBody>
        </p:sp>
        <p:pic>
          <p:nvPicPr>
            <p:cNvPr id="175" name="截屏2025-11-10 20.55.45.png" descr="截屏2025-11-10 20.55.45.png"/>
            <p:cNvPicPr>
              <a:picLocks noChangeAspect="1"/>
            </p:cNvPicPr>
            <p:nvPr/>
          </p:nvPicPr>
          <p:blipFill>
            <a:blip r:embed="rId5"/>
            <a:srcRect b="6918"/>
            <a:stretch>
              <a:fillRect/>
            </a:stretch>
          </p:blipFill>
          <p:spPr>
            <a:xfrm>
              <a:off x="0" y="612354"/>
              <a:ext cx="5229831" cy="57952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7" name="线条"/>
          <p:cNvSpPr/>
          <p:nvPr/>
        </p:nvSpPr>
        <p:spPr>
          <a:xfrm flipV="1">
            <a:off x="7864536" y="1371762"/>
            <a:ext cx="22896" cy="5168579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78" name="Backend"/>
          <p:cNvSpPr txBox="1"/>
          <p:nvPr/>
        </p:nvSpPr>
        <p:spPr>
          <a:xfrm>
            <a:off x="1271988" y="1242275"/>
            <a:ext cx="103554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5000" b="1">
                <a:solidFill>
                  <a:srgbClr val="000000"/>
                </a:solidFill>
              </a:defRPr>
            </a:lvl1pPr>
          </a:lstStyle>
          <a:p>
            <a:r>
              <a:rPr sz="2000" dirty="0"/>
              <a:t>Backend</a:t>
            </a:r>
          </a:p>
        </p:txBody>
      </p:sp>
      <p:sp>
        <p:nvSpPr>
          <p:cNvPr id="179" name="Frontend"/>
          <p:cNvSpPr txBox="1"/>
          <p:nvPr/>
        </p:nvSpPr>
        <p:spPr>
          <a:xfrm>
            <a:off x="8425155" y="1242275"/>
            <a:ext cx="110927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5000" b="1">
                <a:solidFill>
                  <a:srgbClr val="000000"/>
                </a:solidFill>
              </a:defRPr>
            </a:lvl1pPr>
          </a:lstStyle>
          <a:p>
            <a:r>
              <a:rPr sz="2000" dirty="0"/>
              <a:t>Frontend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4DACEB-798E-43CA-45FB-FC2ADA1B232F}"/>
              </a:ext>
            </a:extLst>
          </p:cNvPr>
          <p:cNvSpPr txBox="1"/>
          <p:nvPr/>
        </p:nvSpPr>
        <p:spPr>
          <a:xfrm>
            <a:off x="716089" y="397243"/>
            <a:ext cx="4692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Current architecture</a:t>
            </a:r>
            <a:endParaRPr lang="zh-CN" altLang="en-US" sz="2800" b="1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44A98F-155B-1C7C-D8DB-A1DEDF5564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1" name="线条"/>
          <p:cNvSpPr/>
          <p:nvPr/>
        </p:nvSpPr>
        <p:spPr>
          <a:xfrm flipV="1">
            <a:off x="3069557" y="0"/>
            <a:ext cx="1" cy="6858000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182" name="Backend"/>
          <p:cNvSpPr txBox="1"/>
          <p:nvPr/>
        </p:nvSpPr>
        <p:spPr>
          <a:xfrm>
            <a:off x="851714" y="255538"/>
            <a:ext cx="1282402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5000" b="1">
                <a:solidFill>
                  <a:srgbClr val="000000"/>
                </a:solidFill>
              </a:defRPr>
            </a:lvl1pPr>
          </a:lstStyle>
          <a:p>
            <a:r>
              <a:rPr sz="2500" dirty="0"/>
              <a:t>Backend</a:t>
            </a:r>
          </a:p>
        </p:txBody>
      </p:sp>
      <p:sp>
        <p:nvSpPr>
          <p:cNvPr id="183" name="Application"/>
          <p:cNvSpPr txBox="1"/>
          <p:nvPr/>
        </p:nvSpPr>
        <p:spPr>
          <a:xfrm>
            <a:off x="6728561" y="255538"/>
            <a:ext cx="1715213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5000" b="1">
                <a:solidFill>
                  <a:srgbClr val="000000"/>
                </a:solidFill>
              </a:defRPr>
            </a:lvl1pPr>
          </a:lstStyle>
          <a:p>
            <a:r>
              <a:rPr sz="2500"/>
              <a:t>Application</a:t>
            </a:r>
          </a:p>
        </p:txBody>
      </p:sp>
      <p:sp>
        <p:nvSpPr>
          <p:cNvPr id="184" name="圆角矩形"/>
          <p:cNvSpPr/>
          <p:nvPr/>
        </p:nvSpPr>
        <p:spPr>
          <a:xfrm>
            <a:off x="509622" y="936673"/>
            <a:ext cx="2076103" cy="5287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1" y="21600"/>
                </a:moveTo>
                <a:lnTo>
                  <a:pt x="19799" y="21600"/>
                </a:lnTo>
                <a:cubicBezTo>
                  <a:pt x="20328" y="21600"/>
                  <a:pt x="20645" y="21600"/>
                  <a:pt x="20856" y="21565"/>
                </a:cubicBezTo>
                <a:cubicBezTo>
                  <a:pt x="21161" y="21522"/>
                  <a:pt x="21401" y="21428"/>
                  <a:pt x="21512" y="21308"/>
                </a:cubicBezTo>
                <a:cubicBezTo>
                  <a:pt x="21600" y="21225"/>
                  <a:pt x="21600" y="21100"/>
                  <a:pt x="21600" y="20893"/>
                </a:cubicBezTo>
                <a:lnTo>
                  <a:pt x="21600" y="707"/>
                </a:lnTo>
                <a:cubicBezTo>
                  <a:pt x="21600" y="500"/>
                  <a:pt x="21600" y="375"/>
                  <a:pt x="21512" y="292"/>
                </a:cubicBezTo>
                <a:cubicBezTo>
                  <a:pt x="21401" y="172"/>
                  <a:pt x="21161" y="78"/>
                  <a:pt x="20856" y="35"/>
                </a:cubicBezTo>
                <a:cubicBezTo>
                  <a:pt x="20645" y="0"/>
                  <a:pt x="20328" y="0"/>
                  <a:pt x="19799" y="0"/>
                </a:cubicBezTo>
                <a:lnTo>
                  <a:pt x="1801" y="0"/>
                </a:lnTo>
                <a:cubicBezTo>
                  <a:pt x="1272" y="0"/>
                  <a:pt x="955" y="0"/>
                  <a:pt x="744" y="35"/>
                </a:cubicBezTo>
                <a:cubicBezTo>
                  <a:pt x="439" y="78"/>
                  <a:pt x="199" y="172"/>
                  <a:pt x="88" y="292"/>
                </a:cubicBezTo>
                <a:cubicBezTo>
                  <a:pt x="0" y="375"/>
                  <a:pt x="0" y="500"/>
                  <a:pt x="0" y="707"/>
                </a:cubicBezTo>
                <a:lnTo>
                  <a:pt x="0" y="20893"/>
                </a:lnTo>
                <a:cubicBezTo>
                  <a:pt x="0" y="21100"/>
                  <a:pt x="0" y="21225"/>
                  <a:pt x="88" y="21308"/>
                </a:cubicBezTo>
                <a:cubicBezTo>
                  <a:pt x="199" y="21428"/>
                  <a:pt x="439" y="21522"/>
                  <a:pt x="744" y="21565"/>
                </a:cubicBezTo>
                <a:cubicBezTo>
                  <a:pt x="955" y="21600"/>
                  <a:pt x="1272" y="21600"/>
                  <a:pt x="1801" y="21600"/>
                </a:cubicBezTo>
                <a:close/>
              </a:path>
            </a:pathLst>
          </a:custGeom>
          <a:solidFill>
            <a:srgbClr val="45A4D1">
              <a:alpha val="14221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85" name="/backend"/>
          <p:cNvSpPr txBox="1"/>
          <p:nvPr/>
        </p:nvSpPr>
        <p:spPr>
          <a:xfrm>
            <a:off x="963262" y="1098753"/>
            <a:ext cx="1027525" cy="1513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 algn="l">
              <a:defRPr sz="3800"/>
            </a:pPr>
            <a:r>
              <a:rPr sz="1900"/>
              <a:t>/backend</a:t>
            </a:r>
          </a:p>
          <a:p>
            <a:pPr lvl="1" algn="l">
              <a:defRPr sz="3800"/>
            </a:pPr>
            <a:endParaRPr sz="1900"/>
          </a:p>
          <a:p>
            <a:pPr lvl="1" algn="l">
              <a:defRPr sz="3800"/>
            </a:pPr>
            <a:endParaRPr sz="1900"/>
          </a:p>
          <a:p>
            <a:pPr lvl="1" algn="l">
              <a:defRPr sz="3800"/>
            </a:pPr>
            <a:endParaRPr sz="1900"/>
          </a:p>
          <a:p>
            <a:pPr lvl="1" algn="l">
              <a:defRPr sz="3800"/>
            </a:pPr>
            <a:endParaRPr sz="1900"/>
          </a:p>
        </p:txBody>
      </p:sp>
      <p:sp>
        <p:nvSpPr>
          <p:cNvPr id="186" name="圆角矩形"/>
          <p:cNvSpPr/>
          <p:nvPr/>
        </p:nvSpPr>
        <p:spPr>
          <a:xfrm>
            <a:off x="3615906" y="936673"/>
            <a:ext cx="8143727" cy="5287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9" y="21600"/>
                </a:moveTo>
                <a:lnTo>
                  <a:pt x="21141" y="21600"/>
                </a:lnTo>
                <a:cubicBezTo>
                  <a:pt x="21276" y="21600"/>
                  <a:pt x="21356" y="21600"/>
                  <a:pt x="21410" y="21565"/>
                </a:cubicBezTo>
                <a:cubicBezTo>
                  <a:pt x="21488" y="21522"/>
                  <a:pt x="21549" y="21428"/>
                  <a:pt x="21578" y="21308"/>
                </a:cubicBezTo>
                <a:cubicBezTo>
                  <a:pt x="21600" y="21225"/>
                  <a:pt x="21600" y="21100"/>
                  <a:pt x="21600" y="20893"/>
                </a:cubicBezTo>
                <a:lnTo>
                  <a:pt x="21600" y="707"/>
                </a:lnTo>
                <a:cubicBezTo>
                  <a:pt x="21600" y="500"/>
                  <a:pt x="21600" y="375"/>
                  <a:pt x="21578" y="292"/>
                </a:cubicBezTo>
                <a:cubicBezTo>
                  <a:pt x="21549" y="172"/>
                  <a:pt x="21488" y="78"/>
                  <a:pt x="21410" y="35"/>
                </a:cubicBezTo>
                <a:cubicBezTo>
                  <a:pt x="21356" y="0"/>
                  <a:pt x="21276" y="0"/>
                  <a:pt x="21141" y="0"/>
                </a:cubicBezTo>
                <a:lnTo>
                  <a:pt x="459" y="0"/>
                </a:lnTo>
                <a:cubicBezTo>
                  <a:pt x="324" y="0"/>
                  <a:pt x="244" y="0"/>
                  <a:pt x="190" y="35"/>
                </a:cubicBezTo>
                <a:cubicBezTo>
                  <a:pt x="112" y="78"/>
                  <a:pt x="51" y="172"/>
                  <a:pt x="22" y="292"/>
                </a:cubicBezTo>
                <a:cubicBezTo>
                  <a:pt x="0" y="375"/>
                  <a:pt x="0" y="500"/>
                  <a:pt x="0" y="707"/>
                </a:cubicBezTo>
                <a:lnTo>
                  <a:pt x="0" y="20893"/>
                </a:lnTo>
                <a:cubicBezTo>
                  <a:pt x="0" y="21100"/>
                  <a:pt x="0" y="21225"/>
                  <a:pt x="22" y="21308"/>
                </a:cubicBezTo>
                <a:cubicBezTo>
                  <a:pt x="51" y="21428"/>
                  <a:pt x="112" y="21522"/>
                  <a:pt x="190" y="21565"/>
                </a:cubicBezTo>
                <a:cubicBezTo>
                  <a:pt x="244" y="21600"/>
                  <a:pt x="324" y="21600"/>
                  <a:pt x="459" y="21600"/>
                </a:cubicBezTo>
                <a:close/>
              </a:path>
            </a:pathLst>
          </a:custGeom>
          <a:solidFill>
            <a:srgbClr val="45A4D1">
              <a:alpha val="14221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87" name="/app"/>
          <p:cNvSpPr txBox="1"/>
          <p:nvPr/>
        </p:nvSpPr>
        <p:spPr>
          <a:xfrm>
            <a:off x="7335373" y="1013028"/>
            <a:ext cx="974626" cy="1451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 algn="l">
              <a:defRPr sz="3800"/>
            </a:pPr>
            <a:r>
              <a:rPr sz="1900"/>
              <a:t>/app</a:t>
            </a:r>
          </a:p>
          <a:p>
            <a:pPr lvl="1" algn="l">
              <a:defRPr sz="3800"/>
            </a:pPr>
            <a:endParaRPr sz="1900"/>
          </a:p>
          <a:p>
            <a:pPr lvl="1" algn="l">
              <a:defRPr sz="3800"/>
            </a:pPr>
            <a:endParaRPr sz="1900"/>
          </a:p>
          <a:p>
            <a:pPr lvl="1" algn="l">
              <a:defRPr sz="3800"/>
            </a:pPr>
            <a:endParaRPr sz="1900"/>
          </a:p>
          <a:p>
            <a:pPr lvl="2" algn="l">
              <a:defRPr sz="3000"/>
            </a:pPr>
            <a:endParaRPr sz="1500"/>
          </a:p>
        </p:txBody>
      </p:sp>
      <p:sp>
        <p:nvSpPr>
          <p:cNvPr id="188" name="Flask"/>
          <p:cNvSpPr/>
          <p:nvPr/>
        </p:nvSpPr>
        <p:spPr>
          <a:xfrm>
            <a:off x="992064" y="2194204"/>
            <a:ext cx="1014215" cy="931384"/>
          </a:xfrm>
          <a:prstGeom prst="roundRect">
            <a:avLst>
              <a:gd name="adj" fmla="val 10227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/>
              <a:t>Flask</a:t>
            </a:r>
          </a:p>
        </p:txBody>
      </p:sp>
      <p:sp>
        <p:nvSpPr>
          <p:cNvPr id="189" name="Node.js"/>
          <p:cNvSpPr/>
          <p:nvPr/>
        </p:nvSpPr>
        <p:spPr>
          <a:xfrm>
            <a:off x="992064" y="3815556"/>
            <a:ext cx="1014215" cy="931383"/>
          </a:xfrm>
          <a:prstGeom prst="roundRect">
            <a:avLst>
              <a:gd name="adj" fmla="val 10227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/>
              <a:t>Node.js</a:t>
            </a:r>
          </a:p>
        </p:txBody>
      </p:sp>
      <p:grpSp>
        <p:nvGrpSpPr>
          <p:cNvPr id="194" name="成组"/>
          <p:cNvGrpSpPr/>
          <p:nvPr/>
        </p:nvGrpSpPr>
        <p:grpSpPr>
          <a:xfrm>
            <a:off x="4346992" y="1507916"/>
            <a:ext cx="2800897" cy="2303960"/>
            <a:chOff x="0" y="0"/>
            <a:chExt cx="5601792" cy="4607918"/>
          </a:xfrm>
        </p:grpSpPr>
        <p:sp>
          <p:nvSpPr>
            <p:cNvPr id="190" name="圆角矩形"/>
            <p:cNvSpPr/>
            <p:nvPr/>
          </p:nvSpPr>
          <p:spPr>
            <a:xfrm>
              <a:off x="0" y="0"/>
              <a:ext cx="5601792" cy="4607918"/>
            </a:xfrm>
            <a:prstGeom prst="roundRect">
              <a:avLst>
                <a:gd name="adj" fmla="val 4134"/>
              </a:avLst>
            </a:prstGeom>
            <a:solidFill>
              <a:srgbClr val="C87CD1">
                <a:alpha val="25698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91" name="Domain"/>
            <p:cNvSpPr txBox="1"/>
            <p:nvPr/>
          </p:nvSpPr>
          <p:spPr>
            <a:xfrm>
              <a:off x="1916123" y="118826"/>
              <a:ext cx="1564529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sz="3200" b="1">
                  <a:solidFill>
                    <a:srgbClr val="000000"/>
                  </a:solidFill>
                </a:defRPr>
              </a:lvl1pPr>
            </a:lstStyle>
            <a:p>
              <a:r>
                <a:rPr sz="1600"/>
                <a:t>Domain</a:t>
              </a:r>
            </a:p>
          </p:txBody>
        </p:sp>
        <p:sp>
          <p:nvSpPr>
            <p:cNvPr id="192" name="Models (Product, Category, …)"/>
            <p:cNvSpPr/>
            <p:nvPr/>
          </p:nvSpPr>
          <p:spPr>
            <a:xfrm>
              <a:off x="481419" y="1018861"/>
              <a:ext cx="4480482" cy="1428287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sz="1600"/>
                <a:t>Models</a:t>
              </a:r>
              <a:br>
                <a:rPr sz="1600"/>
              </a:br>
              <a:r>
                <a:rPr sz="1200"/>
                <a:t>(Product, Category, …)</a:t>
              </a:r>
            </a:p>
          </p:txBody>
        </p:sp>
        <p:sp>
          <p:nvSpPr>
            <p:cNvPr id="193" name="Repository (Product, Price, …)"/>
            <p:cNvSpPr/>
            <p:nvPr/>
          </p:nvSpPr>
          <p:spPr>
            <a:xfrm>
              <a:off x="481419" y="2593661"/>
              <a:ext cx="4480482" cy="1428287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sz="1600"/>
                <a:t>Repository</a:t>
              </a:r>
              <a:br>
                <a:rPr sz="1600"/>
              </a:br>
              <a:r>
                <a:rPr sz="1200"/>
                <a:t>(Product, Price, …)</a:t>
              </a:r>
            </a:p>
          </p:txBody>
        </p:sp>
      </p:grpSp>
      <p:grpSp>
        <p:nvGrpSpPr>
          <p:cNvPr id="201" name="成组"/>
          <p:cNvGrpSpPr/>
          <p:nvPr/>
        </p:nvGrpSpPr>
        <p:grpSpPr>
          <a:xfrm>
            <a:off x="8245892" y="1242159"/>
            <a:ext cx="2800897" cy="4676032"/>
            <a:chOff x="0" y="0"/>
            <a:chExt cx="5601792" cy="9352062"/>
          </a:xfrm>
        </p:grpSpPr>
        <p:sp>
          <p:nvSpPr>
            <p:cNvPr id="195" name="圆角矩形"/>
            <p:cNvSpPr/>
            <p:nvPr/>
          </p:nvSpPr>
          <p:spPr>
            <a:xfrm>
              <a:off x="0" y="0"/>
              <a:ext cx="5601792" cy="9352062"/>
            </a:xfrm>
            <a:prstGeom prst="roundRect">
              <a:avLst>
                <a:gd name="adj" fmla="val 3401"/>
              </a:avLst>
            </a:prstGeom>
            <a:solidFill>
              <a:srgbClr val="4CD1AC">
                <a:alpha val="25284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96" name="UI"/>
            <p:cNvSpPr txBox="1"/>
            <p:nvPr/>
          </p:nvSpPr>
          <p:spPr>
            <a:xfrm>
              <a:off x="2533229" y="370940"/>
              <a:ext cx="509756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sz="3200" b="1">
                  <a:solidFill>
                    <a:srgbClr val="000000"/>
                  </a:solidFill>
                </a:defRPr>
              </a:lvl1pPr>
            </a:lstStyle>
            <a:p>
              <a:r>
                <a:rPr sz="1600"/>
                <a:t>UI</a:t>
              </a:r>
            </a:p>
          </p:txBody>
        </p:sp>
        <p:sp>
          <p:nvSpPr>
            <p:cNvPr id="197" name="HomeScreen"/>
            <p:cNvSpPr/>
            <p:nvPr/>
          </p:nvSpPr>
          <p:spPr>
            <a:xfrm>
              <a:off x="560654" y="1270975"/>
              <a:ext cx="4480481" cy="1428288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HomeScreen</a:t>
              </a:r>
            </a:p>
          </p:txBody>
        </p:sp>
        <p:sp>
          <p:nvSpPr>
            <p:cNvPr id="198" name="DealsScreen"/>
            <p:cNvSpPr/>
            <p:nvPr/>
          </p:nvSpPr>
          <p:spPr>
            <a:xfrm>
              <a:off x="560654" y="3201375"/>
              <a:ext cx="4480481" cy="1428288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DealsScreen</a:t>
              </a:r>
            </a:p>
          </p:txBody>
        </p:sp>
        <p:sp>
          <p:nvSpPr>
            <p:cNvPr id="199" name="DetailScreen"/>
            <p:cNvSpPr/>
            <p:nvPr/>
          </p:nvSpPr>
          <p:spPr>
            <a:xfrm>
              <a:off x="560654" y="5131775"/>
              <a:ext cx="4480481" cy="1428288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DetailScreen</a:t>
              </a:r>
            </a:p>
          </p:txBody>
        </p:sp>
        <p:sp>
          <p:nvSpPr>
            <p:cNvPr id="200" name="ProfileScreen"/>
            <p:cNvSpPr/>
            <p:nvPr/>
          </p:nvSpPr>
          <p:spPr>
            <a:xfrm>
              <a:off x="560654" y="7062175"/>
              <a:ext cx="4480481" cy="1428288"/>
            </a:xfrm>
            <a:prstGeom prst="roundRect">
              <a:avLst>
                <a:gd name="adj" fmla="val 13338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ProfileScreen</a:t>
              </a:r>
            </a:p>
          </p:txBody>
        </p:sp>
      </p:grpSp>
      <p:grpSp>
        <p:nvGrpSpPr>
          <p:cNvPr id="206" name="成组"/>
          <p:cNvGrpSpPr/>
          <p:nvPr/>
        </p:nvGrpSpPr>
        <p:grpSpPr>
          <a:xfrm>
            <a:off x="4348735" y="4105339"/>
            <a:ext cx="2800897" cy="1690117"/>
            <a:chOff x="0" y="0"/>
            <a:chExt cx="5601792" cy="3380233"/>
          </a:xfrm>
        </p:grpSpPr>
        <p:sp>
          <p:nvSpPr>
            <p:cNvPr id="202" name="圆角矩形"/>
            <p:cNvSpPr/>
            <p:nvPr/>
          </p:nvSpPr>
          <p:spPr>
            <a:xfrm>
              <a:off x="0" y="0"/>
              <a:ext cx="5601792" cy="3380233"/>
            </a:xfrm>
            <a:prstGeom prst="roundRect">
              <a:avLst>
                <a:gd name="adj" fmla="val 5636"/>
              </a:avLst>
            </a:prstGeom>
            <a:solidFill>
              <a:srgbClr val="D17B20">
                <a:alpha val="25698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03" name="Data Layer"/>
            <p:cNvSpPr txBox="1"/>
            <p:nvPr/>
          </p:nvSpPr>
          <p:spPr>
            <a:xfrm>
              <a:off x="1693607" y="50642"/>
              <a:ext cx="2080697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sz="3200" b="1">
                  <a:solidFill>
                    <a:srgbClr val="000000"/>
                  </a:solidFill>
                </a:defRPr>
              </a:lvl1pPr>
            </a:lstStyle>
            <a:p>
              <a:r>
                <a:rPr sz="1600"/>
                <a:t>Data Layer</a:t>
              </a:r>
            </a:p>
          </p:txBody>
        </p:sp>
        <p:sp>
          <p:nvSpPr>
            <p:cNvPr id="204" name="Local"/>
            <p:cNvSpPr/>
            <p:nvPr/>
          </p:nvSpPr>
          <p:spPr>
            <a:xfrm>
              <a:off x="560655" y="975972"/>
              <a:ext cx="2028429" cy="1862767"/>
            </a:xfrm>
            <a:prstGeom prst="roundRect">
              <a:avLst>
                <a:gd name="adj" fmla="val 10227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Local</a:t>
              </a:r>
            </a:p>
          </p:txBody>
        </p:sp>
        <p:sp>
          <p:nvSpPr>
            <p:cNvPr id="205" name="Remote"/>
            <p:cNvSpPr/>
            <p:nvPr/>
          </p:nvSpPr>
          <p:spPr>
            <a:xfrm>
              <a:off x="2912115" y="975972"/>
              <a:ext cx="2028429" cy="1862767"/>
            </a:xfrm>
            <a:prstGeom prst="roundRect">
              <a:avLst>
                <a:gd name="adj" fmla="val 10227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Remote</a:t>
              </a:r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7B760DE-1C04-5BA7-19E9-A940361240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49" name="标题 1">
            <a:extLst>
              <a:ext uri="{FF2B5EF4-FFF2-40B4-BE49-F238E27FC236}">
                <a16:creationId xmlns:a16="http://schemas.microsoft.com/office/drawing/2014/main" id="{A0E93556-CE27-5D02-369E-FDDD4F564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837" y="347664"/>
            <a:ext cx="1978025" cy="855662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API Design</a:t>
            </a:r>
          </a:p>
        </p:txBody>
      </p:sp>
      <p:pic>
        <p:nvPicPr>
          <p:cNvPr id="2050" name="内容占位符 3">
            <a:extLst>
              <a:ext uri="{FF2B5EF4-FFF2-40B4-BE49-F238E27FC236}">
                <a16:creationId xmlns:a16="http://schemas.microsoft.com/office/drawing/2014/main" id="{540C82B7-BE77-8D68-8B66-0061ADDA1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333501"/>
            <a:ext cx="5410200" cy="4911725"/>
          </a:xfrm>
        </p:spPr>
      </p:pic>
      <p:sp>
        <p:nvSpPr>
          <p:cNvPr id="2051" name="文本框 4">
            <a:extLst>
              <a:ext uri="{FF2B5EF4-FFF2-40B4-BE49-F238E27FC236}">
                <a16:creationId xmlns:a16="http://schemas.microsoft.com/office/drawing/2014/main" id="{B9E4F5E9-5E22-79BD-174D-7CAC9EBC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962" y="950914"/>
            <a:ext cx="5475287" cy="92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Data Source: </a:t>
            </a:r>
            <a:r>
              <a:rPr lang="en-US" altLang="zh-CN" dirty="0" err="1"/>
              <a:t>RapidAPI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API Used: Real-Time Amazon Data API (currently)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867FBB-9E31-9071-720F-2AA6640A1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" t="2000" r="2436" b="2084"/>
          <a:stretch>
            <a:fillRect/>
          </a:stretch>
        </p:blipFill>
        <p:spPr bwMode="auto">
          <a:xfrm>
            <a:off x="6616700" y="2019300"/>
            <a:ext cx="469265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2229-B30D-FD3C-57A9-F82C3086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5044222-38EA-EE45-5EF8-0BB98C2E09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74" name="内容占位符 2">
            <a:extLst>
              <a:ext uri="{FF2B5EF4-FFF2-40B4-BE49-F238E27FC236}">
                <a16:creationId xmlns:a16="http://schemas.microsoft.com/office/drawing/2014/main" id="{D7FEBA80-78FB-B205-7CF0-5C3D24461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2671" y="1203140"/>
            <a:ext cx="11270876" cy="491331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The application uses </a:t>
            </a:r>
            <a:r>
              <a:rPr lang="en-US" altLang="zh-CN" sz="2400" b="1" dirty="0"/>
              <a:t>AWS RDS MySQL 8.0</a:t>
            </a:r>
            <a:r>
              <a:rPr lang="en-US" altLang="zh-CN" sz="2400" dirty="0"/>
              <a:t> as the database platform.</a:t>
            </a:r>
          </a:p>
          <a:p>
            <a:r>
              <a:rPr lang="en-US" altLang="zh-CN" sz="2400" dirty="0"/>
              <a:t>Products table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7E62EF-6DAB-897C-2AAF-3257B2AB3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96" y="1893886"/>
            <a:ext cx="3843312" cy="476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CA59823-7C32-09EE-667C-3DE15C39F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440" y="841018"/>
            <a:ext cx="6343089" cy="1018801"/>
          </a:xfrm>
          <a:prstGeom prst="rect">
            <a:avLst/>
          </a:prstGeom>
          <a:gradFill rotWithShape="1">
            <a:gsLst>
              <a:gs pos="0">
                <a:srgbClr val="EEF7F8"/>
              </a:gs>
              <a:gs pos="50000">
                <a:srgbClr val="BBE0E3"/>
              </a:gs>
              <a:gs pos="100000">
                <a:srgbClr val="8FCCD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dirty="0"/>
              <a:t>Data Transformation: </a:t>
            </a:r>
            <a:r>
              <a:rPr lang="en-US" altLang="zh-CN" b="1" dirty="0" err="1"/>
              <a:t>RapidAPI</a:t>
            </a:r>
            <a:r>
              <a:rPr lang="en-US" altLang="zh-CN" b="1" dirty="0"/>
              <a:t> </a:t>
            </a:r>
            <a:r>
              <a:rPr lang="en-US" altLang="en-US" b="1" dirty="0"/>
              <a:t>→</a:t>
            </a:r>
            <a:r>
              <a:rPr lang="en-US" altLang="zh-CN" b="1" dirty="0"/>
              <a:t> Database</a:t>
            </a:r>
          </a:p>
          <a:p>
            <a:r>
              <a:rPr lang="en-US" altLang="zh-CN" dirty="0"/>
              <a:t>The Node.js backend transforms raw </a:t>
            </a:r>
            <a:r>
              <a:rPr lang="en-US" altLang="zh-CN" dirty="0" err="1"/>
              <a:t>RapidAPI</a:t>
            </a:r>
            <a:r>
              <a:rPr lang="en-US" altLang="zh-CN" dirty="0"/>
              <a:t> data before storing it in the database: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618277-341C-343B-98EF-92F4F9D1FE3E}"/>
              </a:ext>
            </a:extLst>
          </p:cNvPr>
          <p:cNvSpPr txBox="1">
            <a:spLocks noChangeArrowheads="1"/>
          </p:cNvSpPr>
          <p:nvPr/>
        </p:nvSpPr>
        <p:spPr>
          <a:xfrm>
            <a:off x="858837" y="347664"/>
            <a:ext cx="3081151" cy="855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+mn-ea"/>
                <a:ea typeface="+mn-ea"/>
              </a:rPr>
              <a:t>Database Design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DD39CC-E03C-EDA6-2C20-41337E25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813" y="988307"/>
            <a:ext cx="4091287" cy="56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8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205B-0165-97D7-E352-714ACC78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3D4ECB2-2E1C-F2EC-500C-91B1E7A83D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97" name="内容占位符 4">
            <a:extLst>
              <a:ext uri="{FF2B5EF4-FFF2-40B4-BE49-F238E27FC236}">
                <a16:creationId xmlns:a16="http://schemas.microsoft.com/office/drawing/2014/main" id="{11157A69-B225-A2A3-3E44-5F2347A768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2059" r="1853" b="1826"/>
          <a:stretch>
            <a:fillRect/>
          </a:stretch>
        </p:blipFill>
        <p:spPr>
          <a:xfrm>
            <a:off x="857623" y="1768288"/>
            <a:ext cx="4914900" cy="4350123"/>
          </a:xfrm>
        </p:spPr>
      </p:pic>
      <p:sp>
        <p:nvSpPr>
          <p:cNvPr id="4098" name="文本框 3">
            <a:extLst>
              <a:ext uri="{FF2B5EF4-FFF2-40B4-BE49-F238E27FC236}">
                <a16:creationId xmlns:a16="http://schemas.microsoft.com/office/drawing/2014/main" id="{A8374CDB-7B0C-FEEB-ADF3-921E527B9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81" y="433079"/>
            <a:ext cx="633132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b="1" dirty="0"/>
              <a:t>Table 2: Price</a:t>
            </a:r>
          </a:p>
          <a:p>
            <a:r>
              <a:rPr lang="en-US" altLang="zh-CN" b="1" dirty="0"/>
              <a:t>Purpose</a:t>
            </a:r>
            <a:r>
              <a:rPr lang="en-US" altLang="zh-CN" dirty="0"/>
              <a:t>: </a:t>
            </a:r>
            <a:r>
              <a:rPr lang="en-US" altLang="zh-CN" sz="1600" dirty="0"/>
              <a:t>Stores historical price data for trend analysis and charts.</a:t>
            </a:r>
          </a:p>
          <a:p>
            <a:r>
              <a:rPr lang="en-US" altLang="zh-CN" b="1" dirty="0"/>
              <a:t>Status</a:t>
            </a:r>
            <a:r>
              <a:rPr lang="en-US" altLang="zh-CN" dirty="0"/>
              <a:t>: </a:t>
            </a:r>
            <a:r>
              <a:rPr lang="en-US" altLang="zh-CN" sz="1600" dirty="0"/>
              <a:t>Currently used by Flask backend for price history visualization.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32A5BB-5C18-B1FE-2D1E-2C247CB49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4704" y="433079"/>
            <a:ext cx="5341096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b="1" dirty="0"/>
              <a:t>Table 3: User</a:t>
            </a:r>
          </a:p>
          <a:p>
            <a:r>
              <a:rPr lang="en-US" altLang="zh-CN" b="1" dirty="0"/>
              <a:t>Purpose</a:t>
            </a:r>
            <a:r>
              <a:rPr lang="en-US" altLang="zh-CN" dirty="0"/>
              <a:t>: </a:t>
            </a:r>
            <a:r>
              <a:rPr lang="en-US" altLang="zh-CN" sz="1600" dirty="0"/>
              <a:t>User account management and authentication.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61279B-5E2A-9D66-09F6-F4EEB7816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146" y="1943376"/>
            <a:ext cx="5156200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406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F377-ADB0-2E3F-2EAB-2A889545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DA807BF2-2F74-0D1F-9CFF-C5CE02496B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F39DC31-5DB6-DDA8-8717-C6857CFD22AA}"/>
              </a:ext>
            </a:extLst>
          </p:cNvPr>
          <p:cNvSpPr txBox="1"/>
          <p:nvPr/>
        </p:nvSpPr>
        <p:spPr>
          <a:xfrm>
            <a:off x="658938" y="635896"/>
            <a:ext cx="8783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Challenges faced + solutions tried + future work </a:t>
            </a:r>
            <a:endParaRPr lang="zh-CN" altLang="en-US" sz="2800" b="1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30E8F0F-E7C6-1CCD-D45B-820D25AE24D3}"/>
              </a:ext>
            </a:extLst>
          </p:cNvPr>
          <p:cNvSpPr txBox="1">
            <a:spLocks/>
          </p:cNvSpPr>
          <p:nvPr/>
        </p:nvSpPr>
        <p:spPr>
          <a:xfrm>
            <a:off x="658938" y="1539956"/>
            <a:ext cx="11279062" cy="4420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2000" b="1" noProof="1"/>
              <a:t>Dual Backend System</a:t>
            </a:r>
            <a:r>
              <a:rPr lang="en-US" altLang="zh-CN" sz="2000" noProof="1"/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noProof="1"/>
              <a:t>Problem</a:t>
            </a:r>
            <a:r>
              <a:rPr lang="en-US" altLang="zh-CN" sz="2000" noProof="1"/>
              <a:t>: The application currently runs two separate backend services:</a:t>
            </a:r>
          </a:p>
          <a:p>
            <a:pPr lvl="2">
              <a:lnSpc>
                <a:spcPct val="100000"/>
              </a:lnSpc>
            </a:pPr>
            <a:r>
              <a:rPr lang="en-US" altLang="zh-CN" noProof="1"/>
              <a:t>Node.js (Port 8080): Product data and RapidAPI integration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 altLang="zh-CN" noProof="1"/>
              <a:t>Flask (Port 5001): User authentication and price history charts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noProof="1"/>
              <a:t>Root Cause</a:t>
            </a:r>
            <a:r>
              <a:rPr lang="en-US" altLang="zh-CN" sz="2000" noProof="1"/>
              <a:t>: </a:t>
            </a:r>
          </a:p>
          <a:p>
            <a:pPr lvl="2">
              <a:lnSpc>
                <a:spcPct val="100000"/>
              </a:lnSpc>
            </a:pPr>
            <a:r>
              <a:rPr lang="en-US" altLang="zh-CN" noProof="1"/>
              <a:t>Flask backend was developed first for database connection testing. </a:t>
            </a:r>
          </a:p>
          <a:p>
            <a:pPr lvl="2">
              <a:lnSpc>
                <a:spcPct val="100000"/>
              </a:lnSpc>
            </a:pPr>
            <a:r>
              <a:rPr lang="en-US" altLang="zh-CN" noProof="1"/>
              <a:t>Node.js backend added later for robust RapidAPI integration. 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 altLang="zh-CN" noProof="1"/>
              <a:t>Historical price visualization still depends on Flask.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noProof="1"/>
              <a:t>Future Plan</a:t>
            </a:r>
            <a:r>
              <a:rPr lang="en-US" altLang="zh-CN" sz="2000" noProof="1"/>
              <a:t>: Deprecate Flask backend; Implement price history API in Node.js; Consolidate to single Retrofit client in Android.</a:t>
            </a:r>
          </a:p>
        </p:txBody>
      </p:sp>
    </p:spTree>
    <p:extLst>
      <p:ext uri="{BB962C8B-B14F-4D97-AF65-F5344CB8AC3E}">
        <p14:creationId xmlns:p14="http://schemas.microsoft.com/office/powerpoint/2010/main" val="235094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32B0-A8E1-8B91-30A6-5C65284E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A423C6D0-1FA2-E9F4-27CD-2872DADA81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2C6157E-5B66-6F3C-402C-BE3C9945C4AB}"/>
              </a:ext>
            </a:extLst>
          </p:cNvPr>
          <p:cNvSpPr txBox="1"/>
          <p:nvPr/>
        </p:nvSpPr>
        <p:spPr>
          <a:xfrm>
            <a:off x="755650" y="1277481"/>
            <a:ext cx="10280650" cy="3431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/>
              <a:t>Server Uptime Requirement</a:t>
            </a: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/>
              <a:t>Problem</a:t>
            </a:r>
            <a:r>
              <a:rPr lang="en-US" altLang="zh-CN" sz="2000" dirty="0"/>
              <a:t>: Node.js server must run continuously for scheduled price updates to work.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Future plan</a:t>
            </a:r>
            <a:r>
              <a:rPr lang="en-US" altLang="zh-CN" sz="2000" dirty="0"/>
              <a:t>: </a:t>
            </a:r>
            <a:r>
              <a:rPr lang="en-US" altLang="zh-CN" sz="2000" b="1" dirty="0"/>
              <a:t>Cloud Deployment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Deploy to AWS EC2, Heroku, or Railway;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Cloud platforms provide 99.9% uptime;</a:t>
            </a:r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Automatic restart on failure.</a:t>
            </a:r>
          </a:p>
        </p:txBody>
      </p:sp>
    </p:spTree>
    <p:extLst>
      <p:ext uri="{BB962C8B-B14F-4D97-AF65-F5344CB8AC3E}">
        <p14:creationId xmlns:p14="http://schemas.microsoft.com/office/powerpoint/2010/main" val="61272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C4EC-6B63-F158-ADB6-79282A9F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DC1E423-2870-0F14-FAEF-D528A116A1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485C98-6051-1B3A-8453-60BD0F092E45}"/>
              </a:ext>
            </a:extLst>
          </p:cNvPr>
          <p:cNvSpPr txBox="1"/>
          <p:nvPr/>
        </p:nvSpPr>
        <p:spPr>
          <a:xfrm>
            <a:off x="2177585" y="1647050"/>
            <a:ext cx="78368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14328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420</Words>
  <Application>Microsoft Office PowerPoint</Application>
  <PresentationFormat>宽屏</PresentationFormat>
  <Paragraphs>89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API Design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Leyan</dc:creator>
  <cp:lastModifiedBy>Chen, Leyan</cp:lastModifiedBy>
  <cp:revision>76</cp:revision>
  <dcterms:created xsi:type="dcterms:W3CDTF">2025-11-11T11:09:59Z</dcterms:created>
  <dcterms:modified xsi:type="dcterms:W3CDTF">2025-11-11T17:38:15Z</dcterms:modified>
</cp:coreProperties>
</file>