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88" r:id="rId2"/>
    <p:sldId id="298" r:id="rId3"/>
    <p:sldId id="292" r:id="rId4"/>
    <p:sldId id="313" r:id="rId5"/>
    <p:sldId id="309" r:id="rId6"/>
    <p:sldId id="258" r:id="rId7"/>
    <p:sldId id="301" r:id="rId8"/>
    <p:sldId id="303" r:id="rId9"/>
    <p:sldId id="299" r:id="rId10"/>
    <p:sldId id="306" r:id="rId11"/>
    <p:sldId id="263" r:id="rId12"/>
    <p:sldId id="305" r:id="rId13"/>
    <p:sldId id="293" r:id="rId14"/>
    <p:sldId id="290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319" autoAdjust="0"/>
  </p:normalViewPr>
  <p:slideViewPr>
    <p:cSldViewPr snapToGrid="0">
      <p:cViewPr>
        <p:scale>
          <a:sx n="100" d="100"/>
          <a:sy n="100" d="100"/>
        </p:scale>
        <p:origin x="4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D110A-9CF1-4EF5-8068-64B4DE6CF48D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39CB8-6A4D-410E-AE32-A931C305A9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c9d22de0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c9d22de0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c9d22de0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c9d22de0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39CB8-6A4D-410E-AE32-A931C305A9B5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D2BDD-B491-4712-BE2C-E289FEB3058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600" lvl="0" indent="-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2D2BDD-B491-4712-BE2C-E289FEB30588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5A1842-BEA8-4687-B965-B757CBD444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buChloeCLY/CS501-Project-DealTracke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391771" y="3261489"/>
            <a:ext cx="9679459" cy="1230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  <a:spcAft>
                <a:spcPts val="600"/>
              </a:spcAft>
            </a:pPr>
            <a:r>
              <a:rPr lang="en-US" altLang="zh-CN" sz="28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— Interim Project Presentation 2 </a:t>
            </a:r>
          </a:p>
          <a:p>
            <a:pPr algn="r">
              <a:lnSpc>
                <a:spcPct val="150000"/>
              </a:lnSpc>
            </a:pPr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  <a:hlinkClick r:id="rId4"/>
              </a:rPr>
              <a:t>https://github.com/buChloeCLY/CS501-Project-DealTracker</a:t>
            </a:r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177585" y="1678800"/>
            <a:ext cx="783683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b="1" dirty="0" err="1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</a:rPr>
              <a:t>DealTracker</a:t>
            </a:r>
            <a:endParaRPr lang="en-US" altLang="zh-CN" sz="8800" b="1" dirty="0">
              <a:solidFill>
                <a:schemeClr val="bg2">
                  <a:lumMod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191735" y="5392919"/>
            <a:ext cx="5879496" cy="36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70000"/>
              </a:lnSpc>
            </a:pPr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Team: Leyan Chen, </a:t>
            </a:r>
            <a:r>
              <a:rPr lang="en-US" altLang="zh-CN" sz="2400" b="1" dirty="0" err="1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Yijia</a:t>
            </a:r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 Chen, </a:t>
            </a:r>
            <a:r>
              <a:rPr lang="en-US" altLang="zh-CN" sz="2400" b="1" dirty="0" err="1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Juling</a:t>
            </a:r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 Fan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716089" y="397243"/>
            <a:ext cx="3214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Live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716089" y="397243"/>
            <a:ext cx="3214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Working Division</a:t>
            </a:r>
          </a:p>
        </p:txBody>
      </p:sp>
      <p:sp>
        <p:nvSpPr>
          <p:cNvPr id="4" name="Google Shape;61;p14"/>
          <p:cNvSpPr/>
          <p:nvPr/>
        </p:nvSpPr>
        <p:spPr>
          <a:xfrm>
            <a:off x="1908783" y="2501248"/>
            <a:ext cx="1993200" cy="21996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2400" dirty="0"/>
              <a:t>Sensor</a:t>
            </a:r>
            <a:endParaRPr sz="2400" dirty="0"/>
          </a:p>
        </p:txBody>
      </p:sp>
      <p:sp>
        <p:nvSpPr>
          <p:cNvPr id="5" name="Google Shape;62;p14"/>
          <p:cNvSpPr/>
          <p:nvPr/>
        </p:nvSpPr>
        <p:spPr>
          <a:xfrm>
            <a:off x="4789650" y="2501248"/>
            <a:ext cx="1993200" cy="21996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2400"/>
              <a:t>External API</a:t>
            </a:r>
            <a:endParaRPr sz="2400"/>
          </a:p>
        </p:txBody>
      </p:sp>
      <p:sp>
        <p:nvSpPr>
          <p:cNvPr id="6" name="Google Shape;63;p14"/>
          <p:cNvSpPr/>
          <p:nvPr/>
        </p:nvSpPr>
        <p:spPr>
          <a:xfrm>
            <a:off x="7670517" y="2501248"/>
            <a:ext cx="1993200" cy="21996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2400"/>
              <a:t>Database</a:t>
            </a:r>
            <a:endParaRPr sz="2400"/>
          </a:p>
        </p:txBody>
      </p:sp>
      <p:sp>
        <p:nvSpPr>
          <p:cNvPr id="7" name="Google Shape;64;p14"/>
          <p:cNvSpPr/>
          <p:nvPr/>
        </p:nvSpPr>
        <p:spPr>
          <a:xfrm>
            <a:off x="1918450" y="4934148"/>
            <a:ext cx="7735600" cy="14388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2400"/>
              <a:t>UI and backends to each part</a:t>
            </a:r>
            <a:endParaRPr sz="2400"/>
          </a:p>
        </p:txBody>
      </p:sp>
      <p:sp>
        <p:nvSpPr>
          <p:cNvPr id="8" name="Google Shape;65;p14"/>
          <p:cNvSpPr/>
          <p:nvPr/>
        </p:nvSpPr>
        <p:spPr>
          <a:xfrm>
            <a:off x="2133183" y="1405515"/>
            <a:ext cx="1544400" cy="76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1600"/>
              <a:t>Leyan Chen</a:t>
            </a:r>
            <a:endParaRPr sz="1600"/>
          </a:p>
        </p:txBody>
      </p:sp>
      <p:sp>
        <p:nvSpPr>
          <p:cNvPr id="9" name="Google Shape;66;p14"/>
          <p:cNvSpPr/>
          <p:nvPr/>
        </p:nvSpPr>
        <p:spPr>
          <a:xfrm>
            <a:off x="5014050" y="1405515"/>
            <a:ext cx="1544400" cy="76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1600"/>
              <a:t>Yijia Chen</a:t>
            </a:r>
            <a:endParaRPr sz="1600"/>
          </a:p>
        </p:txBody>
      </p:sp>
      <p:sp>
        <p:nvSpPr>
          <p:cNvPr id="10" name="Google Shape;67;p14"/>
          <p:cNvSpPr/>
          <p:nvPr/>
        </p:nvSpPr>
        <p:spPr>
          <a:xfrm>
            <a:off x="7894917" y="1405515"/>
            <a:ext cx="1544400" cy="76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1600"/>
              <a:t>Juling Fan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BF58560B-CB9C-152D-79FD-ED338AC6D71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E45F58C4-6C5C-37DD-A99D-563ACE3E9ECF}"/>
              </a:ext>
            </a:extLst>
          </p:cNvPr>
          <p:cNvSpPr/>
          <p:nvPr/>
        </p:nvSpPr>
        <p:spPr>
          <a:xfrm>
            <a:off x="387350" y="920463"/>
            <a:ext cx="11220450" cy="574703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3DDF74C-639E-7B89-2E5A-7CDE77E7C1FA}"/>
              </a:ext>
            </a:extLst>
          </p:cNvPr>
          <p:cNvSpPr txBox="1"/>
          <p:nvPr/>
        </p:nvSpPr>
        <p:spPr>
          <a:xfrm>
            <a:off x="4114800" y="1067174"/>
            <a:ext cx="3498850" cy="31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</a:rPr>
              <a:t>Android APP (Jetpack Compose)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B49752B-D011-94EA-BF19-E1FE5AB96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00" y="1384697"/>
            <a:ext cx="5047000" cy="11824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8058796-ECCC-E098-CF6B-C02E162E8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475" y="2667868"/>
            <a:ext cx="3679645" cy="157269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68CE9A3-ADD7-8EB3-FE97-B34528691E2F}"/>
              </a:ext>
            </a:extLst>
          </p:cNvPr>
          <p:cNvSpPr txBox="1"/>
          <p:nvPr/>
        </p:nvSpPr>
        <p:spPr>
          <a:xfrm>
            <a:off x="468439" y="251353"/>
            <a:ext cx="5858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MVVM Architecture Diagram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3C313BA-9495-A9B1-D6F0-B4066F038A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1745" y="4373404"/>
            <a:ext cx="3396913" cy="196526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DD67AF3-437E-DDB2-7F50-2D63948851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321" y="3454213"/>
            <a:ext cx="3396913" cy="2722563"/>
          </a:xfrm>
          <a:prstGeom prst="rect">
            <a:avLst/>
          </a:prstGeom>
        </p:spPr>
      </p:pic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8F59C24-5146-970D-68EC-A6650FA39BDE}"/>
              </a:ext>
            </a:extLst>
          </p:cNvPr>
          <p:cNvCxnSpPr/>
          <p:nvPr/>
        </p:nvCxnSpPr>
        <p:spPr>
          <a:xfrm>
            <a:off x="3227297" y="2520950"/>
            <a:ext cx="0" cy="260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72048EA-3636-3DFA-C1B8-03E17FB767D7}"/>
              </a:ext>
            </a:extLst>
          </p:cNvPr>
          <p:cNvCxnSpPr/>
          <p:nvPr/>
        </p:nvCxnSpPr>
        <p:spPr>
          <a:xfrm>
            <a:off x="3043147" y="4214654"/>
            <a:ext cx="0" cy="260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73F3C0D-767C-1E29-D9FC-22DA5E673913}"/>
              </a:ext>
            </a:extLst>
          </p:cNvPr>
          <p:cNvCxnSpPr>
            <a:cxnSpLocks/>
          </p:cNvCxnSpPr>
          <p:nvPr/>
        </p:nvCxnSpPr>
        <p:spPr>
          <a:xfrm>
            <a:off x="4828658" y="5181600"/>
            <a:ext cx="14986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811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33917" y="153302"/>
            <a:ext cx="64288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Dependency diagram &amp; Data flow</a:t>
            </a:r>
          </a:p>
        </p:txBody>
      </p:sp>
      <p:sp>
        <p:nvSpPr>
          <p:cNvPr id="4" name="Google Shape;61;p14"/>
          <p:cNvSpPr/>
          <p:nvPr/>
        </p:nvSpPr>
        <p:spPr>
          <a:xfrm>
            <a:off x="847035" y="920463"/>
            <a:ext cx="3871531" cy="52322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400" dirty="0"/>
              <a:t>UI (Compose Screens)</a:t>
            </a:r>
          </a:p>
        </p:txBody>
      </p:sp>
      <p:cxnSp>
        <p:nvCxnSpPr>
          <p:cNvPr id="6" name="直接箭头连接符 5"/>
          <p:cNvCxnSpPr/>
          <p:nvPr/>
        </p:nvCxnSpPr>
        <p:spPr>
          <a:xfrm>
            <a:off x="2717327" y="1443683"/>
            <a:ext cx="0" cy="499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Google Shape;61;p14"/>
          <p:cNvSpPr/>
          <p:nvPr/>
        </p:nvSpPr>
        <p:spPr>
          <a:xfrm>
            <a:off x="847035" y="1943186"/>
            <a:ext cx="7349905" cy="52322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400" dirty="0"/>
              <a:t> User browses Home page (categories, deals, search)</a:t>
            </a:r>
          </a:p>
        </p:txBody>
      </p:sp>
      <p:cxnSp>
        <p:nvCxnSpPr>
          <p:cNvPr id="8" name="直接箭头连接符 7"/>
          <p:cNvCxnSpPr/>
          <p:nvPr/>
        </p:nvCxnSpPr>
        <p:spPr>
          <a:xfrm>
            <a:off x="2717327" y="2466406"/>
            <a:ext cx="0" cy="499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782800" y="2494317"/>
            <a:ext cx="1349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StateFlow</a:t>
            </a:r>
            <a:endParaRPr lang="zh-CN" altLang="en-US" b="1" dirty="0"/>
          </a:p>
        </p:txBody>
      </p:sp>
      <p:sp>
        <p:nvSpPr>
          <p:cNvPr id="10" name="Google Shape;61;p14"/>
          <p:cNvSpPr/>
          <p:nvPr/>
        </p:nvSpPr>
        <p:spPr>
          <a:xfrm>
            <a:off x="847035" y="2955777"/>
            <a:ext cx="9853622" cy="52322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400" dirty="0"/>
              <a:t>Domain Layer (Repository Interfaces: </a:t>
            </a:r>
            <a:r>
              <a:rPr lang="en-US" sz="2400" dirty="0" err="1"/>
              <a:t>ProductRepository</a:t>
            </a:r>
            <a:r>
              <a:rPr lang="en-US" sz="2400" dirty="0"/>
              <a:t>, </a:t>
            </a:r>
            <a:r>
              <a:rPr lang="en-US" sz="2400" dirty="0" err="1"/>
              <a:t>PriceRepository</a:t>
            </a:r>
            <a:r>
              <a:rPr lang="en-US" sz="2400" dirty="0"/>
              <a:t>)</a:t>
            </a: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2717327" y="3478997"/>
            <a:ext cx="0" cy="499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Google Shape;61;p14"/>
          <p:cNvSpPr/>
          <p:nvPr/>
        </p:nvSpPr>
        <p:spPr>
          <a:xfrm>
            <a:off x="803492" y="3945427"/>
            <a:ext cx="4432537" cy="52322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400" dirty="0"/>
              <a:t>Data Layer (Repositories </a:t>
            </a:r>
            <a:r>
              <a:rPr lang="en-US" sz="2400" dirty="0" err="1"/>
              <a:t>Impl</a:t>
            </a:r>
            <a:r>
              <a:rPr lang="en-US" sz="2400" dirty="0"/>
              <a:t>)</a:t>
            </a: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2717327" y="4468647"/>
            <a:ext cx="0" cy="499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Google Shape;61;p14"/>
          <p:cNvSpPr/>
          <p:nvPr/>
        </p:nvSpPr>
        <p:spPr>
          <a:xfrm>
            <a:off x="759949" y="4968150"/>
            <a:ext cx="7436993" cy="52322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400" dirty="0"/>
              <a:t>Remote APIs (</a:t>
            </a:r>
            <a:r>
              <a:rPr lang="en-US" sz="2400" dirty="0" err="1"/>
              <a:t>DatabaseApiService</a:t>
            </a:r>
            <a:r>
              <a:rPr lang="en-US" sz="2400" dirty="0"/>
              <a:t>, </a:t>
            </a:r>
            <a:r>
              <a:rPr lang="en-US" sz="2400" dirty="0" err="1"/>
              <a:t>PriceApi</a:t>
            </a:r>
            <a:r>
              <a:rPr lang="en-US" sz="2400" dirty="0"/>
              <a:t>, UserApi)</a:t>
            </a: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2735156" y="5491370"/>
            <a:ext cx="0" cy="499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Google Shape;61;p14"/>
          <p:cNvSpPr/>
          <p:nvPr/>
        </p:nvSpPr>
        <p:spPr>
          <a:xfrm>
            <a:off x="716090" y="6014590"/>
            <a:ext cx="4356654" cy="52322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400" dirty="0"/>
              <a:t>Backend (Node.js server)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A64DCFE-568F-4DE9-88DF-12A54073641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2" name="Google Shape;72;p15"/>
          <p:cNvSpPr/>
          <p:nvPr/>
        </p:nvSpPr>
        <p:spPr>
          <a:xfrm>
            <a:off x="415600" y="1226633"/>
            <a:ext cx="1993200" cy="27632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73" name="Google Shape;73;p15"/>
          <p:cNvSpPr/>
          <p:nvPr/>
        </p:nvSpPr>
        <p:spPr>
          <a:xfrm>
            <a:off x="4036000" y="1226633"/>
            <a:ext cx="1993200" cy="27632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74" name="Google Shape;74;p15"/>
          <p:cNvSpPr/>
          <p:nvPr/>
        </p:nvSpPr>
        <p:spPr>
          <a:xfrm rot="-5400000">
            <a:off x="8178200" y="3061800"/>
            <a:ext cx="2136800" cy="2885600"/>
          </a:xfrm>
          <a:prstGeom prst="snip2SameRect">
            <a:avLst>
              <a:gd name="adj1" fmla="val 30293"/>
              <a:gd name="adj2" fmla="val 0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76" name="Google Shape;76;p15"/>
          <p:cNvSpPr/>
          <p:nvPr/>
        </p:nvSpPr>
        <p:spPr>
          <a:xfrm>
            <a:off x="722633" y="1609100"/>
            <a:ext cx="1544400" cy="76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/>
              <a:t>HomeScreen</a:t>
            </a:r>
            <a:endParaRPr sz="1600"/>
          </a:p>
        </p:txBody>
      </p:sp>
      <p:sp>
        <p:nvSpPr>
          <p:cNvPr id="77" name="Google Shape;77;p15"/>
          <p:cNvSpPr/>
          <p:nvPr/>
        </p:nvSpPr>
        <p:spPr>
          <a:xfrm>
            <a:off x="4260400" y="1609100"/>
            <a:ext cx="1544400" cy="76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/>
              <a:t>DealScreen</a:t>
            </a:r>
            <a:endParaRPr sz="1600"/>
          </a:p>
        </p:txBody>
      </p:sp>
      <p:sp>
        <p:nvSpPr>
          <p:cNvPr id="78" name="Google Shape;78;p15"/>
          <p:cNvSpPr/>
          <p:nvPr/>
        </p:nvSpPr>
        <p:spPr>
          <a:xfrm>
            <a:off x="7798167" y="1609100"/>
            <a:ext cx="1818400" cy="76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/>
              <a:t>ProductScreen</a:t>
            </a:r>
            <a:endParaRPr sz="1600"/>
          </a:p>
        </p:txBody>
      </p:sp>
      <p:sp>
        <p:nvSpPr>
          <p:cNvPr id="79" name="Google Shape;79;p15"/>
          <p:cNvSpPr/>
          <p:nvPr/>
        </p:nvSpPr>
        <p:spPr>
          <a:xfrm>
            <a:off x="2900167" y="4221100"/>
            <a:ext cx="1818400" cy="76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/>
              <a:t>WishlistScreen</a:t>
            </a:r>
            <a:endParaRPr sz="1600"/>
          </a:p>
        </p:txBody>
      </p:sp>
      <p:sp>
        <p:nvSpPr>
          <p:cNvPr id="80" name="Google Shape;80;p15"/>
          <p:cNvSpPr/>
          <p:nvPr/>
        </p:nvSpPr>
        <p:spPr>
          <a:xfrm>
            <a:off x="5979767" y="4221100"/>
            <a:ext cx="1818400" cy="76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/>
              <a:t>ProfileScreen</a:t>
            </a:r>
            <a:endParaRPr sz="1600"/>
          </a:p>
        </p:txBody>
      </p:sp>
      <p:sp>
        <p:nvSpPr>
          <p:cNvPr id="81" name="Google Shape;81;p15"/>
          <p:cNvSpPr/>
          <p:nvPr/>
        </p:nvSpPr>
        <p:spPr>
          <a:xfrm>
            <a:off x="8931833" y="3556500"/>
            <a:ext cx="972400" cy="4696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/>
              <a:t>Setting</a:t>
            </a:r>
            <a:endParaRPr sz="1600"/>
          </a:p>
        </p:txBody>
      </p:sp>
      <p:sp>
        <p:nvSpPr>
          <p:cNvPr id="82" name="Google Shape;82;p15"/>
          <p:cNvSpPr/>
          <p:nvPr/>
        </p:nvSpPr>
        <p:spPr>
          <a:xfrm>
            <a:off x="8931833" y="4269800"/>
            <a:ext cx="972400" cy="4696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/>
              <a:t>History</a:t>
            </a:r>
            <a:endParaRPr sz="1600"/>
          </a:p>
        </p:txBody>
      </p:sp>
      <p:sp>
        <p:nvSpPr>
          <p:cNvPr id="83" name="Google Shape;83;p15"/>
          <p:cNvSpPr/>
          <p:nvPr/>
        </p:nvSpPr>
        <p:spPr>
          <a:xfrm>
            <a:off x="5696667" y="5778100"/>
            <a:ext cx="972400" cy="4696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/>
              <a:t>Log in</a:t>
            </a:r>
            <a:endParaRPr sz="1600"/>
          </a:p>
        </p:txBody>
      </p:sp>
      <p:sp>
        <p:nvSpPr>
          <p:cNvPr id="84" name="Google Shape;84;p15"/>
          <p:cNvSpPr/>
          <p:nvPr/>
        </p:nvSpPr>
        <p:spPr>
          <a:xfrm>
            <a:off x="7359333" y="5778100"/>
            <a:ext cx="972400" cy="4696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/>
              <a:t>Sign up</a:t>
            </a:r>
            <a:endParaRPr sz="1600"/>
          </a:p>
        </p:txBody>
      </p:sp>
      <p:sp>
        <p:nvSpPr>
          <p:cNvPr id="85" name="Google Shape;85;p15"/>
          <p:cNvSpPr/>
          <p:nvPr/>
        </p:nvSpPr>
        <p:spPr>
          <a:xfrm>
            <a:off x="8931833" y="4983100"/>
            <a:ext cx="972400" cy="4696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/>
              <a:t>Edit</a:t>
            </a:r>
            <a:endParaRPr sz="1600"/>
          </a:p>
        </p:txBody>
      </p:sp>
      <p:cxnSp>
        <p:nvCxnSpPr>
          <p:cNvPr id="86" name="Google Shape;86;p15"/>
          <p:cNvCxnSpPr>
            <a:stCxn id="76" idx="3"/>
            <a:endCxn id="77" idx="1"/>
          </p:cNvCxnSpPr>
          <p:nvPr/>
        </p:nvCxnSpPr>
        <p:spPr>
          <a:xfrm>
            <a:off x="2267033" y="1990900"/>
            <a:ext cx="199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7" name="Google Shape;87;p15"/>
          <p:cNvCxnSpPr>
            <a:stCxn id="77" idx="3"/>
            <a:endCxn id="78" idx="1"/>
          </p:cNvCxnSpPr>
          <p:nvPr/>
        </p:nvCxnSpPr>
        <p:spPr>
          <a:xfrm>
            <a:off x="5804800" y="1990900"/>
            <a:ext cx="199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8" name="Google Shape;88;p15"/>
          <p:cNvCxnSpPr>
            <a:endCxn id="80" idx="1"/>
          </p:cNvCxnSpPr>
          <p:nvPr/>
        </p:nvCxnSpPr>
        <p:spPr>
          <a:xfrm rot="10800000" flipH="1">
            <a:off x="4718567" y="4602900"/>
            <a:ext cx="1261200" cy="3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89" name="Google Shape;89;p15"/>
          <p:cNvCxnSpPr>
            <a:endCxn id="80" idx="2"/>
          </p:cNvCxnSpPr>
          <p:nvPr/>
        </p:nvCxnSpPr>
        <p:spPr>
          <a:xfrm rot="10800000" flipH="1">
            <a:off x="6206167" y="4984700"/>
            <a:ext cx="682800" cy="78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" name="Google Shape;90;p15"/>
          <p:cNvCxnSpPr>
            <a:endCxn id="84" idx="1"/>
          </p:cNvCxnSpPr>
          <p:nvPr/>
        </p:nvCxnSpPr>
        <p:spPr>
          <a:xfrm rot="10800000" flipH="1">
            <a:off x="6702133" y="6012900"/>
            <a:ext cx="657200" cy="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1" name="Google Shape;91;p15"/>
          <p:cNvCxnSpPr>
            <a:endCxn id="80" idx="2"/>
          </p:cNvCxnSpPr>
          <p:nvPr/>
        </p:nvCxnSpPr>
        <p:spPr>
          <a:xfrm rot="10800000">
            <a:off x="6888967" y="4984700"/>
            <a:ext cx="975200" cy="79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" name="Google Shape;92;p15"/>
          <p:cNvSpPr txBox="1"/>
          <p:nvPr/>
        </p:nvSpPr>
        <p:spPr>
          <a:xfrm>
            <a:off x="2455117" y="2139567"/>
            <a:ext cx="16172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600">
                <a:solidFill>
                  <a:schemeClr val="dk2"/>
                </a:solidFill>
              </a:rPr>
              <a:t>Back to home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6171282" y="2088000"/>
            <a:ext cx="16172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600" dirty="0">
                <a:solidFill>
                  <a:schemeClr val="dk2"/>
                </a:solidFill>
              </a:rPr>
              <a:t>Back to Deals</a:t>
            </a:r>
            <a:endParaRPr sz="1600" dirty="0">
              <a:solidFill>
                <a:schemeClr val="dk2"/>
              </a:solidFill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2455100" y="1349833"/>
            <a:ext cx="16172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600">
                <a:solidFill>
                  <a:schemeClr val="dk2"/>
                </a:solidFill>
              </a:rPr>
              <a:t>Go to search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6335400" y="1226633"/>
            <a:ext cx="16172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600">
                <a:solidFill>
                  <a:schemeClr val="dk2"/>
                </a:solidFill>
              </a:rPr>
              <a:t>View one product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4260400" y="2456633"/>
            <a:ext cx="1544400" cy="664800"/>
          </a:xfrm>
          <a:prstGeom prst="roundRect">
            <a:avLst>
              <a:gd name="adj" fmla="val 41615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467"/>
              <a:t>sort</a:t>
            </a:r>
            <a:endParaRPr sz="1467"/>
          </a:p>
        </p:txBody>
      </p:sp>
      <p:sp>
        <p:nvSpPr>
          <p:cNvPr id="97" name="Google Shape;97;p15"/>
          <p:cNvSpPr/>
          <p:nvPr/>
        </p:nvSpPr>
        <p:spPr>
          <a:xfrm>
            <a:off x="722667" y="2552733"/>
            <a:ext cx="1544400" cy="664800"/>
          </a:xfrm>
          <a:prstGeom prst="roundRect">
            <a:avLst>
              <a:gd name="adj" fmla="val 41615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467"/>
              <a:t>category</a:t>
            </a:r>
            <a:endParaRPr sz="1467"/>
          </a:p>
        </p:txBody>
      </p:sp>
      <p:sp>
        <p:nvSpPr>
          <p:cNvPr id="98" name="Google Shape;98;p15"/>
          <p:cNvSpPr/>
          <p:nvPr/>
        </p:nvSpPr>
        <p:spPr>
          <a:xfrm>
            <a:off x="722633" y="3289417"/>
            <a:ext cx="1544400" cy="664800"/>
          </a:xfrm>
          <a:prstGeom prst="roundRect">
            <a:avLst>
              <a:gd name="adj" fmla="val 41615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200" dirty="0"/>
              <a:t>recommendation</a:t>
            </a:r>
            <a:endParaRPr sz="1200" dirty="0"/>
          </a:p>
        </p:txBody>
      </p:sp>
      <p:sp>
        <p:nvSpPr>
          <p:cNvPr id="99" name="Google Shape;99;p15"/>
          <p:cNvSpPr txBox="1"/>
          <p:nvPr/>
        </p:nvSpPr>
        <p:spPr>
          <a:xfrm>
            <a:off x="1346100" y="4026101"/>
            <a:ext cx="12612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600">
                <a:solidFill>
                  <a:schemeClr val="dk2"/>
                </a:solidFill>
              </a:rPr>
              <a:t>View List</a:t>
            </a:r>
            <a:endParaRPr sz="1600">
              <a:solidFill>
                <a:schemeClr val="dk2"/>
              </a:solidFill>
            </a:endParaRPr>
          </a:p>
        </p:txBody>
      </p:sp>
      <p:cxnSp>
        <p:nvCxnSpPr>
          <p:cNvPr id="100" name="Google Shape;100;p15"/>
          <p:cNvCxnSpPr>
            <a:stCxn id="79" idx="1"/>
            <a:endCxn id="76" idx="2"/>
          </p:cNvCxnSpPr>
          <p:nvPr/>
        </p:nvCxnSpPr>
        <p:spPr>
          <a:xfrm rot="10800000">
            <a:off x="1494967" y="2372900"/>
            <a:ext cx="1405200" cy="223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1" name="Google Shape;101;p15"/>
          <p:cNvSpPr/>
          <p:nvPr/>
        </p:nvSpPr>
        <p:spPr>
          <a:xfrm rot="-5400000">
            <a:off x="9470333" y="1068900"/>
            <a:ext cx="2136800" cy="1844000"/>
          </a:xfrm>
          <a:prstGeom prst="snip2SameRect">
            <a:avLst>
              <a:gd name="adj1" fmla="val 39539"/>
              <a:gd name="adj2" fmla="val 0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102" name="Google Shape;102;p15"/>
          <p:cNvSpPr/>
          <p:nvPr/>
        </p:nvSpPr>
        <p:spPr>
          <a:xfrm>
            <a:off x="10328500" y="1139500"/>
            <a:ext cx="1040400" cy="4696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/>
              <a:t>Price chart</a:t>
            </a:r>
            <a:endParaRPr sz="1600"/>
          </a:p>
        </p:txBody>
      </p:sp>
      <p:sp>
        <p:nvSpPr>
          <p:cNvPr id="103" name="Google Shape;103;p15"/>
          <p:cNvSpPr/>
          <p:nvPr/>
        </p:nvSpPr>
        <p:spPr>
          <a:xfrm>
            <a:off x="10328500" y="2337000"/>
            <a:ext cx="1040400" cy="4696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600"/>
              <a:t>Platform link</a:t>
            </a:r>
            <a:endParaRPr sz="1600"/>
          </a:p>
        </p:txBody>
      </p:sp>
      <p:sp>
        <p:nvSpPr>
          <p:cNvPr id="104" name="Google Shape;104;p15"/>
          <p:cNvSpPr/>
          <p:nvPr/>
        </p:nvSpPr>
        <p:spPr>
          <a:xfrm>
            <a:off x="4260400" y="3235133"/>
            <a:ext cx="1544400" cy="664800"/>
          </a:xfrm>
          <a:prstGeom prst="roundRect">
            <a:avLst>
              <a:gd name="adj" fmla="val 41615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467"/>
              <a:t>filter</a:t>
            </a:r>
            <a:endParaRPr sz="1467"/>
          </a:p>
        </p:txBody>
      </p:sp>
      <p:cxnSp>
        <p:nvCxnSpPr>
          <p:cNvPr id="105" name="Google Shape;105;p15"/>
          <p:cNvCxnSpPr>
            <a:stCxn id="79" idx="0"/>
            <a:endCxn id="77" idx="2"/>
          </p:cNvCxnSpPr>
          <p:nvPr/>
        </p:nvCxnSpPr>
        <p:spPr>
          <a:xfrm rot="10800000" flipH="1">
            <a:off x="3809367" y="2372700"/>
            <a:ext cx="1223200" cy="184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6" name="Google Shape;106;p15"/>
          <p:cNvSpPr txBox="1"/>
          <p:nvPr/>
        </p:nvSpPr>
        <p:spPr>
          <a:xfrm>
            <a:off x="4739167" y="4518501"/>
            <a:ext cx="1220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600">
                <a:solidFill>
                  <a:schemeClr val="dk2"/>
                </a:solidFill>
              </a:rPr>
              <a:t>View list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3151999" y="3322418"/>
            <a:ext cx="1220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600" dirty="0">
                <a:solidFill>
                  <a:schemeClr val="dk2"/>
                </a:solidFill>
              </a:rPr>
              <a:t>View list</a:t>
            </a:r>
            <a:endParaRPr sz="1600" dirty="0">
              <a:solidFill>
                <a:schemeClr val="dk2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D6D873A-2AA7-9C4A-C98E-ABEFA7AB24D7}"/>
              </a:ext>
            </a:extLst>
          </p:cNvPr>
          <p:cNvSpPr txBox="1"/>
          <p:nvPr/>
        </p:nvSpPr>
        <p:spPr>
          <a:xfrm>
            <a:off x="716089" y="397243"/>
            <a:ext cx="5858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Navigate 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716089" y="397243"/>
            <a:ext cx="3214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Sensor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83402" y="1026909"/>
            <a:ext cx="857575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Implemented with Android </a:t>
            </a:r>
            <a:r>
              <a:rPr lang="en-US" altLang="zh-CN" dirty="0" err="1"/>
              <a:t>RecognizerIntent</a:t>
            </a:r>
            <a:r>
              <a:rPr lang="en-US" altLang="zh-CN" dirty="0"/>
              <a:t> + </a:t>
            </a:r>
            <a:r>
              <a:rPr lang="en-US" altLang="zh-CN" dirty="0" err="1"/>
              <a:t>ActivityResultLauncher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Result stored in </a:t>
            </a:r>
            <a:r>
              <a:rPr lang="en-US" altLang="zh-CN" dirty="0" err="1"/>
              <a:t>HomeViewModel</a:t>
            </a:r>
            <a:r>
              <a:rPr lang="en-US" altLang="zh-CN" dirty="0"/>
              <a:t> (</a:t>
            </a:r>
            <a:r>
              <a:rPr lang="en-US" altLang="zh-CN" dirty="0" err="1"/>
              <a:t>applyVoiceResult</a:t>
            </a:r>
            <a:r>
              <a:rPr lang="en-US" altLang="zh-C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Handles errors and crashes: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Device without speech recognition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Empty voice result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Recognition canceled or failed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Testing / Debugging: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Checked normal flow, empty input, cancel, and unsupported device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Error messages displayed via </a:t>
            </a:r>
            <a:r>
              <a:rPr lang="en-US" altLang="zh-CN" dirty="0" err="1"/>
              <a:t>voiceError</a:t>
            </a:r>
            <a:r>
              <a:rPr lang="en-US" altLang="zh-CN" dirty="0"/>
              <a:t> </a:t>
            </a:r>
            <a:r>
              <a:rPr lang="en-US" altLang="zh-CN" dirty="0" err="1"/>
              <a:t>StateFlow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4306" y="3774931"/>
            <a:ext cx="2971800" cy="25812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816" y="3889231"/>
            <a:ext cx="2943225" cy="24669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953956" y="507042"/>
            <a:ext cx="3214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API</a:t>
            </a:r>
          </a:p>
        </p:txBody>
      </p:sp>
      <p:sp>
        <p:nvSpPr>
          <p:cNvPr id="3" name="Google Shape;111;p16"/>
          <p:cNvSpPr/>
          <p:nvPr/>
        </p:nvSpPr>
        <p:spPr>
          <a:xfrm>
            <a:off x="1669856" y="1778869"/>
            <a:ext cx="2118000" cy="819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dirty="0"/>
              <a:t>User Management</a:t>
            </a:r>
            <a:endParaRPr sz="1700" dirty="0"/>
          </a:p>
        </p:txBody>
      </p:sp>
      <p:sp>
        <p:nvSpPr>
          <p:cNvPr id="4" name="Google Shape;112;p16"/>
          <p:cNvSpPr/>
          <p:nvPr/>
        </p:nvSpPr>
        <p:spPr>
          <a:xfrm>
            <a:off x="4337696" y="1778869"/>
            <a:ext cx="2118000" cy="819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Price &amp; history APIs</a:t>
            </a:r>
            <a:endParaRPr sz="1700"/>
          </a:p>
        </p:txBody>
      </p:sp>
      <p:sp>
        <p:nvSpPr>
          <p:cNvPr id="5" name="Google Shape;113;p16"/>
          <p:cNvSpPr/>
          <p:nvPr/>
        </p:nvSpPr>
        <p:spPr>
          <a:xfrm>
            <a:off x="7005536" y="1778869"/>
            <a:ext cx="2118000" cy="819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Product management</a:t>
            </a:r>
            <a:endParaRPr sz="1700"/>
          </a:p>
        </p:txBody>
      </p:sp>
      <p:sp>
        <p:nvSpPr>
          <p:cNvPr id="6" name="Google Shape;114;p16"/>
          <p:cNvSpPr/>
          <p:nvPr/>
        </p:nvSpPr>
        <p:spPr>
          <a:xfrm>
            <a:off x="1669856" y="3096807"/>
            <a:ext cx="2118000" cy="8193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Wishlist APIs</a:t>
            </a:r>
            <a:endParaRPr sz="1700"/>
          </a:p>
        </p:txBody>
      </p:sp>
      <p:sp>
        <p:nvSpPr>
          <p:cNvPr id="7" name="Google Shape;115;p16"/>
          <p:cNvSpPr/>
          <p:nvPr/>
        </p:nvSpPr>
        <p:spPr>
          <a:xfrm>
            <a:off x="4337696" y="3096807"/>
            <a:ext cx="2118000" cy="8193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dirty="0"/>
              <a:t>Admin / maintenance APIs</a:t>
            </a:r>
            <a:endParaRPr sz="1700" dirty="0"/>
          </a:p>
        </p:txBody>
      </p:sp>
      <p:sp>
        <p:nvSpPr>
          <p:cNvPr id="8" name="Google Shape;116;p16"/>
          <p:cNvSpPr/>
          <p:nvPr/>
        </p:nvSpPr>
        <p:spPr>
          <a:xfrm>
            <a:off x="1669856" y="4414745"/>
            <a:ext cx="2118000" cy="819300"/>
          </a:xfrm>
          <a:prstGeom prst="roundRect">
            <a:avLst>
              <a:gd name="adj" fmla="val 16667"/>
            </a:avLst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Scheduled job</a:t>
            </a:r>
            <a:endParaRPr sz="1700"/>
          </a:p>
        </p:txBody>
      </p:sp>
      <p:sp>
        <p:nvSpPr>
          <p:cNvPr id="9" name="Google Shape;117;p16"/>
          <p:cNvSpPr/>
          <p:nvPr/>
        </p:nvSpPr>
        <p:spPr>
          <a:xfrm>
            <a:off x="4337696" y="4414745"/>
            <a:ext cx="2118000" cy="819300"/>
          </a:xfrm>
          <a:prstGeom prst="roundRect">
            <a:avLst>
              <a:gd name="adj" fmla="val 16667"/>
            </a:avLst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System / test endpoints</a:t>
            </a:r>
            <a:endParaRPr sz="1700"/>
          </a:p>
        </p:txBody>
      </p:sp>
      <p:sp>
        <p:nvSpPr>
          <p:cNvPr id="10" name="Google Shape;118;p16"/>
          <p:cNvSpPr/>
          <p:nvPr/>
        </p:nvSpPr>
        <p:spPr>
          <a:xfrm>
            <a:off x="6620890" y="2954611"/>
            <a:ext cx="639683" cy="1476563"/>
          </a:xfrm>
          <a:prstGeom prst="leftBrace">
            <a:avLst>
              <a:gd name="adj1" fmla="val 30998"/>
              <a:gd name="adj2" fmla="val 4590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9;p16"/>
          <p:cNvSpPr/>
          <p:nvPr/>
        </p:nvSpPr>
        <p:spPr>
          <a:xfrm>
            <a:off x="7399638" y="2805992"/>
            <a:ext cx="2118000" cy="3909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import-initial</a:t>
            </a:r>
            <a:endParaRPr sz="1600"/>
          </a:p>
        </p:txBody>
      </p:sp>
      <p:sp>
        <p:nvSpPr>
          <p:cNvPr id="12" name="Google Shape;120;p16"/>
          <p:cNvSpPr/>
          <p:nvPr/>
        </p:nvSpPr>
        <p:spPr>
          <a:xfrm>
            <a:off x="7399638" y="3497443"/>
            <a:ext cx="2118000" cy="3909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update-all-prices</a:t>
            </a:r>
            <a:endParaRPr sz="1600"/>
          </a:p>
        </p:txBody>
      </p:sp>
      <p:sp>
        <p:nvSpPr>
          <p:cNvPr id="13" name="Google Shape;121;p16"/>
          <p:cNvSpPr/>
          <p:nvPr/>
        </p:nvSpPr>
        <p:spPr>
          <a:xfrm>
            <a:off x="7399638" y="4188894"/>
            <a:ext cx="2118000" cy="3909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/>
              <a:t>sync-lowest-prices</a:t>
            </a:r>
            <a:endParaRPr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716089" y="397243"/>
            <a:ext cx="99328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Testing &amp; debugging</a:t>
            </a:r>
          </a:p>
        </p:txBody>
      </p:sp>
      <p:pic>
        <p:nvPicPr>
          <p:cNvPr id="3" name="Google Shape;158;p22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81951" y="2636371"/>
            <a:ext cx="11028098" cy="25057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871909" y="1488043"/>
            <a:ext cx="98442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dk2"/>
                </a:solidFill>
              </a:rPr>
              <a:t>I first added log statements in the code and inspected the backend server logs.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716089" y="397243"/>
            <a:ext cx="99328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Testing &amp; debugging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511193" y="1270533"/>
            <a:ext cx="5604029" cy="424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dk2"/>
                </a:solidFill>
              </a:rPr>
              <a:t>Then I used the </a:t>
            </a:r>
            <a:r>
              <a:rPr lang="en-US" altLang="zh-CN" sz="1800" dirty="0" err="1">
                <a:solidFill>
                  <a:schemeClr val="dk2"/>
                </a:solidFill>
              </a:rPr>
              <a:t>RapidAPI</a:t>
            </a:r>
            <a:r>
              <a:rPr lang="en-US" altLang="zh-CN" sz="1800" dirty="0">
                <a:solidFill>
                  <a:schemeClr val="dk2"/>
                </a:solidFill>
              </a:rPr>
              <a:t> console and Postman to manually test each endpoint to confirm that the backend was parsing and returning fields correctly.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dk2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solidFill>
                <a:schemeClr val="dk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800" b="1" dirty="0">
                <a:solidFill>
                  <a:schemeClr val="dk2"/>
                </a:solidFill>
              </a:rPr>
              <a:t>Conclusion: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1800" dirty="0">
                <a:solidFill>
                  <a:schemeClr val="dk2"/>
                </a:solidFill>
              </a:rPr>
              <a:t>HTTP status code 429: API has reached the free request limit and the service stops responding;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dirty="0">
                <a:solidFill>
                  <a:schemeClr val="dk2"/>
                </a:solidFill>
              </a:rPr>
              <a:t>Timeout error: T</a:t>
            </a:r>
            <a:r>
              <a:rPr lang="en-US" altLang="zh-CN" sz="1800" dirty="0">
                <a:solidFill>
                  <a:schemeClr val="dk2"/>
                </a:solidFill>
              </a:rPr>
              <a:t>he API is too slow, in which case we should consider removing the timeout limit.</a:t>
            </a:r>
          </a:p>
        </p:txBody>
      </p:sp>
      <p:pic>
        <p:nvPicPr>
          <p:cNvPr id="2" name="Google Shape;135;p18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10701" y="1442263"/>
            <a:ext cx="5604029" cy="3553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2" name="Google Shape;152;p20" title="截屏2025-12-02 17.01.51.png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2318270" y="1552207"/>
            <a:ext cx="7555459" cy="490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0"/>
          <p:cNvSpPr txBox="1">
            <a:spLocks noGrp="1"/>
          </p:cNvSpPr>
          <p:nvPr>
            <p:ph type="body" idx="1"/>
          </p:nvPr>
        </p:nvSpPr>
        <p:spPr>
          <a:xfrm>
            <a:off x="790250" y="988449"/>
            <a:ext cx="4594550" cy="40011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GB" sz="2000" dirty="0"/>
              <a:t>Database: AWS-aurora (MySQL)</a:t>
            </a:r>
            <a:endParaRPr sz="2000" dirty="0"/>
          </a:p>
        </p:txBody>
      </p:sp>
      <p:sp>
        <p:nvSpPr>
          <p:cNvPr id="3" name="文本框 2"/>
          <p:cNvSpPr txBox="1"/>
          <p:nvPr/>
        </p:nvSpPr>
        <p:spPr>
          <a:xfrm>
            <a:off x="716089" y="397243"/>
            <a:ext cx="3214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Persistence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3" cstate="screen">
            <a:alphaModFix amt="5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58938" y="635896"/>
            <a:ext cx="8783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Obstacles</a:t>
            </a:r>
            <a:endParaRPr lang="zh-CN" altLang="en-US" sz="2800" b="1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658938" y="1539956"/>
            <a:ext cx="11609262" cy="44205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altLang="zh-CN" sz="2400" noProof="1"/>
              <a:t>Search logic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US" altLang="zh-CN" sz="2000" noProof="1"/>
              <a:t>search strategy: exact matching for ensure accuracy, or fuzzy matching for better user experience.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US" altLang="zh-CN" sz="2000" noProof="1"/>
              <a:t>search results: return all results at once, or support pagination and real-time filtering.</a:t>
            </a:r>
          </a:p>
          <a:p>
            <a:pPr marL="457200" indent="-45720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altLang="zh-CN" sz="2400" noProof="1"/>
              <a:t>specify same products between different platforms</a:t>
            </a:r>
          </a:p>
          <a:p>
            <a:pPr marL="457200" indent="-45720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altLang="zh-CN" sz="2400" noProof="1"/>
              <a:t>Api has quota</a:t>
            </a:r>
          </a:p>
          <a:p>
            <a:pPr marL="457200" indent="-45720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altLang="zh-CN" sz="2400" noProof="1"/>
              <a:t>Conflicts of our commits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3" cstate="screen">
            <a:alphaModFix amt="5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内容占位符 2"/>
          <p:cNvSpPr txBox="1"/>
          <p:nvPr/>
        </p:nvSpPr>
        <p:spPr>
          <a:xfrm>
            <a:off x="590940" y="297516"/>
            <a:ext cx="11279062" cy="6262968"/>
          </a:xfrm>
          <a:prstGeom prst="rect">
            <a:avLst/>
          </a:prstGeom>
        </p:spPr>
        <p:txBody>
          <a:bodyPr numCol="2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altLang="zh-CN" sz="2400" b="1" dirty="0">
                <a:latin typeface="+mn-ea"/>
              </a:rPr>
              <a:t>Progress we’ve made: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zh-CN" sz="1600" noProof="1">
                <a:latin typeface="+mn-ea"/>
              </a:rPr>
              <a:t>Basic MVVM &amp; workflow: ✅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zh-CN" sz="1600" noProof="1">
                <a:latin typeface="+mn-ea"/>
              </a:rPr>
              <a:t>Multi-platform price integration &amp; compare : ✅ More platforms will be added in future.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zh-CN" sz="1600" noProof="1">
                <a:latin typeface="+mn-ea"/>
              </a:rPr>
              <a:t>Daily scheduled multi-platform update: ✅ Automatically sync the products table to the newest lowest prices every day.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zh-CN" sz="1600" noProof="1">
                <a:latin typeface="+mn-ea"/>
              </a:rPr>
              <a:t>Smarter product modeling: ✅ (A new function to generate concise, user-friendly titles)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zh-CN" sz="1600" noProof="1">
                <a:latin typeface="+mn-ea"/>
              </a:rPr>
              <a:t>Richer admin workflows</a:t>
            </a:r>
            <a:r>
              <a:rPr lang="en-US" altLang="zh-CN" sz="1600" dirty="0">
                <a:latin typeface="+mn-ea"/>
                <a:sym typeface="+mn-ea"/>
              </a:rPr>
              <a:t> ✅ </a:t>
            </a:r>
            <a:endParaRPr lang="en-US" altLang="zh-CN" sz="1600" noProof="1">
              <a:latin typeface="+mn-ea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zh-CN" sz="1600" noProof="1">
                <a:latin typeface="+mn-ea"/>
              </a:rPr>
              <a:t>Wishlist support for our app</a:t>
            </a:r>
            <a:r>
              <a:rPr lang="en-US" altLang="zh-CN" sz="1600" dirty="0">
                <a:latin typeface="+mn-ea"/>
                <a:sym typeface="+mn-ea"/>
              </a:rPr>
              <a:t> ✅ </a:t>
            </a:r>
            <a:endParaRPr lang="en-US" altLang="zh-CN" sz="1600" noProof="1">
              <a:latin typeface="+mn-ea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zh-CN" sz="1600" noProof="1">
                <a:latin typeface="+mn-ea"/>
              </a:rPr>
              <a:t>Sensor (microphone) : ✅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zh-CN" sz="1600" noProof="1">
                <a:latin typeface="+mn-ea"/>
              </a:rPr>
              <a:t>Account management (register &amp; login): ✅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zh-CN" sz="1600" noProof="1">
                <a:latin typeface="+mn-ea"/>
              </a:rPr>
              <a:t>Data persistence : ✅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zh-CN" sz="1600" noProof="1">
                <a:latin typeface="+mn-ea"/>
              </a:rPr>
              <a:t>Product search &amp; price alert: In progress…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zh-CN" sz="1600" noProof="1">
                <a:latin typeface="+mn-ea"/>
              </a:rPr>
              <a:t> AI recommendation : ❌</a:t>
            </a:r>
            <a:endParaRPr lang="en-US" altLang="zh-CN" sz="1800" noProof="1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82995" y="1496695"/>
            <a:ext cx="4557395" cy="1660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b="1" dirty="0">
                <a:latin typeface="+mn-ea"/>
                <a:sym typeface="+mn-ea"/>
              </a:rPr>
              <a:t>Stretch </a:t>
            </a:r>
            <a:r>
              <a:rPr lang="en-US" altLang="zh-CN" b="1" dirty="0">
                <a:latin typeface="+mn-ea"/>
                <a:sym typeface="+mn-ea"/>
              </a:rPr>
              <a:t>g</a:t>
            </a:r>
            <a:r>
              <a:rPr lang="zh-CN" altLang="en-US" b="1" dirty="0">
                <a:latin typeface="+mn-ea"/>
                <a:sym typeface="+mn-ea"/>
              </a:rPr>
              <a:t>oals </a:t>
            </a:r>
            <a:r>
              <a:rPr lang="en-US" altLang="zh-CN" b="1" dirty="0">
                <a:latin typeface="+mn-ea"/>
                <a:sym typeface="+mn-ea"/>
              </a:rPr>
              <a:t>adjustment</a:t>
            </a:r>
            <a:endParaRPr lang="en-US" altLang="zh-CN" b="1" dirty="0">
              <a:latin typeface="+mn-ea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zh-CN" altLang="en-US" dirty="0">
                <a:latin typeface="+mn-ea"/>
                <a:sym typeface="+mn-ea"/>
              </a:rPr>
              <a:t>Social Sharing: </a:t>
            </a:r>
            <a:r>
              <a:rPr lang="en-US" altLang="zh-CN" dirty="0">
                <a:latin typeface="+mn-ea"/>
                <a:sym typeface="+mn-ea"/>
              </a:rPr>
              <a:t>In progress…</a:t>
            </a:r>
            <a:endParaRPr lang="zh-CN" altLang="en-US" dirty="0">
              <a:latin typeface="+mn-ea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zh-CN" altLang="en-US" dirty="0">
                <a:latin typeface="+mn-ea"/>
                <a:sym typeface="+mn-ea"/>
              </a:rPr>
              <a:t>Smart Coupon Integration:</a:t>
            </a:r>
            <a:r>
              <a:rPr lang="en-US" altLang="zh-CN" dirty="0">
                <a:latin typeface="+mn-ea"/>
                <a:sym typeface="+mn-ea"/>
              </a:rPr>
              <a:t> ❌</a:t>
            </a:r>
            <a:endParaRPr lang="en-US" altLang="zh-CN" noProof="1">
              <a:latin typeface="+mn-ea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177585" y="1647050"/>
            <a:ext cx="783683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b="1" dirty="0">
                <a:solidFill>
                  <a:schemeClr val="bg2">
                    <a:lumMod val="50000"/>
                  </a:schemeClr>
                </a:solidFill>
                <a:cs typeface="+mn-ea"/>
                <a:sym typeface="+mn-lt"/>
              </a:rPr>
              <a:t>Thanks for Listening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497</Words>
  <Application>Microsoft Office PowerPoint</Application>
  <PresentationFormat>宽屏</PresentationFormat>
  <Paragraphs>112</Paragraphs>
  <Slides>14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Chen, Leyan</dc:creator>
  <cp:lastModifiedBy>Chen, Leyan</cp:lastModifiedBy>
  <cp:revision>226</cp:revision>
  <dcterms:created xsi:type="dcterms:W3CDTF">2025-11-11T11:09:00Z</dcterms:created>
  <dcterms:modified xsi:type="dcterms:W3CDTF">2025-12-03T00:59:07Z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FCB6D594838F4C8690834DD052D17845_13</vt:lpwstr>
  </property>
  <property fmtid="{D5CDD505-2E9C-101B-9397-08002B2CF9AE}" pid="3" name="KSOProductBuildVer">
    <vt:lpwstr>2052-12.1.0.23542</vt:lpwstr>
  </property>
</Properties>
</file>