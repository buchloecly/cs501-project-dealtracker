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88" r:id="rId2"/>
    <p:sldId id="298" r:id="rId3"/>
    <p:sldId id="292" r:id="rId4"/>
    <p:sldId id="311" r:id="rId5"/>
    <p:sldId id="309" r:id="rId6"/>
    <p:sldId id="301" r:id="rId7"/>
    <p:sldId id="303" r:id="rId8"/>
    <p:sldId id="299" r:id="rId9"/>
    <p:sldId id="306" r:id="rId10"/>
    <p:sldId id="263" r:id="rId11"/>
    <p:sldId id="305" r:id="rId12"/>
    <p:sldId id="293" r:id="rId13"/>
    <p:sldId id="290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19" autoAdjust="0"/>
  </p:normalViewPr>
  <p:slideViewPr>
    <p:cSldViewPr snapToGrid="0">
      <p:cViewPr varScale="1">
        <p:scale>
          <a:sx n="87" d="100"/>
          <a:sy n="87" d="100"/>
        </p:scale>
        <p:origin x="52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D110A-9CF1-4EF5-8068-64B4DE6CF48D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39CB8-6A4D-410E-AE32-A931C305A9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253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17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B0874-5C1D-76F4-25C3-6037E7A19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E6E8D1-FF1B-516D-E173-27E687736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C6337D-49B2-C3FF-C270-716FDBA5C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A4809E-1C75-EFB3-F3E8-A8BBFF4C6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118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36613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C39D-81F8-492C-3599-1A1A4522D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0F10C6-FB1F-BBD0-A036-78BAB7471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CE542A-3A7A-2BD4-621F-E2A17C4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FA0677-33C5-1ADE-DBE0-D367B5CFA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16494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EB114-969D-4EB4-4BDE-F8B076E2D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08BEBC-A176-1DEB-D217-1DC538C57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21DB0F9-F2D3-DEE9-7878-4840FA26C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85267E-2305-37C3-8FB5-4021068FA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0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90F17-B326-5BC2-248C-0A3EF9CF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1AE27D3-E0BE-B231-F8FD-D96C19A52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EC4BE3-A089-ABD0-750C-89541D41A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D78CCC-907C-3603-3ACF-6172BE5BE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1102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657A3-4643-AB26-7018-C6B5DCB67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DA34CF-1345-0E4E-9855-D8F045435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7CBDE5-9AFA-C2EA-C149-72C358843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959E28-4FB1-9FCC-E65E-73668224AB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3350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7F025-68E9-53B6-A152-F697012A7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0113B30-37B7-A777-E2C4-DF6092FF3F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C425396-7018-E6A5-915D-8959ABDD2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0430E2-ABCD-1E04-A71F-D8C3FC7E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2939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18AFE-A396-0A93-5420-B594AACB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C5D169-43C8-78D3-6CD2-5FB32384F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CED175F-EEDD-2D30-1458-CAB9953E8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EAA54E-E070-7BBC-8B68-F32FF7B6A2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418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c9d22de0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c9d22de0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55E8F-716B-6CEB-67BC-A249DAE7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0E0A38-FCA6-259E-660E-721AF968DB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4568BA0-56A1-179A-9274-EBFA9F0EC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8A1FF2-AA78-759E-BC7D-848B2959D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251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39CB8-6A4D-410E-AE32-A931C305A9B5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13857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3C614A-4F87-6E69-D153-A0361F2B66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D49AC3-5D6F-0524-EBE9-EC826E033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E82DF0-DF9F-1AF0-258A-521084F60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91E4E-3510-4950-837A-30160B218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D7058C-DD54-7ECE-6B7C-669D4E40B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475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E78994-1DC8-93B9-AE60-4B591397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19843D-C39E-77A6-DC00-4626CD5CA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D52775-8115-0756-2F84-1FA5609A4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4C70C2-B473-59F9-9953-10E3186BA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AB8D9E-9024-937A-7E2F-2D772F687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2305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9D7DAA-740D-3CE0-5AEA-ECE884C4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6B5C1AD-9032-C7B4-BEB7-0BA757D1A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81FE28-D549-121D-8863-77B003327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D60577-E59E-C5C5-EC62-F014F5112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50559F-AA7B-6F87-89D6-C4F4A72CD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5041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75F95D-2670-593B-6BF3-B6CA06827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8059E3-BC5F-A93C-52FE-C415575F2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2CB84A9-80A9-A6AE-DAEB-ABA96AF8A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B30774-0513-FAD1-0F2D-F13951823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11388C-5C4C-51E1-EBAB-6D584B69D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26EFF1-B7E5-E4A8-313B-9B93A672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607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25CBEC-FEA4-AE33-E663-B1619D384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5791C5-2EAB-E490-2776-741A069E2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5CAB28-E6E9-A54E-EC3E-EC8ED28A26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3BF99B5-7BE7-802B-C840-1A0FF13A5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17128B7-63D1-0095-8EC8-A76FE4D69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62913B-3631-EDEC-7BED-F6F3B1835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B757BAC-FCB0-9764-236F-BD951DE22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82537C5-7E1C-117D-052B-270F8DFC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9074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B420AF-E789-F116-B208-8601D478C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AB308A-FE1E-BABC-49B0-2529697C5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E859C8-2B97-DD2D-6380-A19ABEB29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B4A2FE-DEB4-DD6F-5644-EF5CA44F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386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341D51-0262-FA7A-96FE-A9127483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BB1601F-752D-B59A-6963-B51FD487E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EA3D3C-6508-D4F8-CABC-06E218A82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3216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5F5223-7F0F-AA3C-7D42-497961868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042412-EFA1-FC52-5440-A2E071718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62A5CA2-569D-1AA7-B47F-FF243E440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70D8B0-61D8-8F78-5D05-179BFA99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5E12E0-B0AE-B75C-B4D7-44645010D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F4C4296-2886-A2D2-FA1B-F0A333D6B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299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D9597E-A54C-D426-7810-0DA3C731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909BA71-E933-28EC-EE11-6C6B370D2A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5DC8C5-7C78-B08A-E7DB-FA756B2350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036FB89-51B5-201D-A6E6-87EA1BDC1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8F2EA3-ABAC-57B1-7E62-1F15DE3F6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8E8E0-BC82-6545-BD76-9E1EBF649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532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3C320D-663B-0518-5070-9178A2E2D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0FB65A-6DFE-8F2B-52CF-F94D4168C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225B84-97D6-536D-A6EA-EA4F72D2D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8B4600-D9F0-421C-CF8C-898728CC8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05D945-9E31-1B64-DDC6-9EA6653A7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409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FA04D36-8765-4F22-6EEB-D39841BA07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7CCAFD0-5EBB-C3C5-E968-0EBB8DABA9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83A667-1E44-446F-315F-51D077C17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842247-EB7F-F0B8-0469-B9E711CFC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A447AE-8E2A-3C6C-E09B-C509B7C0F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75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3319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784677-64E7-DBAA-8C2D-F3206D10F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787585-2445-37D7-C34A-73EF62E55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7DA445-2050-E2BD-79A7-01DECF9CE0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2D2BDD-B491-4712-BE2C-E289FEB30588}" type="datetimeFigureOut">
              <a:rPr lang="zh-CN" altLang="en-US" smtClean="0"/>
              <a:t>2025/12/2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D0B8FE-9DC3-5F24-A509-29049B537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9CE9D4-74DC-87CE-A9A5-1E9967C1E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A1842-BEA8-4687-B965-B757CBD444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7736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buChloeCLY/CS501-Project-DealTracke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4C638-6660-1663-F23F-42630C27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64E102B9-2EB2-F8F7-5A4C-7100BD9E9BB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13D7B23-81C2-2327-38C9-EF7D07323790}"/>
              </a:ext>
            </a:extLst>
          </p:cNvPr>
          <p:cNvSpPr txBox="1"/>
          <p:nvPr/>
        </p:nvSpPr>
        <p:spPr>
          <a:xfrm>
            <a:off x="1391771" y="3261489"/>
            <a:ext cx="9679459" cy="1230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  <a:spcAft>
                <a:spcPts val="600"/>
              </a:spcAft>
            </a:pPr>
            <a:r>
              <a:rPr lang="en-US" altLang="zh-CN" sz="28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</a:rPr>
              <a:t>— Interim Project Presentation 2 </a:t>
            </a:r>
          </a:p>
          <a:p>
            <a:pPr algn="r">
              <a:lnSpc>
                <a:spcPct val="150000"/>
              </a:lnSpc>
            </a:pPr>
            <a:r>
              <a:rPr lang="en-US" altLang="zh-CN" sz="20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  <a:hlinkClick r:id="rId4"/>
              </a:rPr>
              <a:t>https://github.com/buChloeCLY/CS501-Project-DealTracker</a:t>
            </a:r>
            <a:r>
              <a:rPr lang="en-US" altLang="zh-CN" sz="2000" b="1" dirty="0">
                <a:solidFill>
                  <a:schemeClr val="bg1">
                    <a:lumMod val="50000"/>
                  </a:schemeClr>
                </a:solidFill>
                <a:cs typeface="+mn-ea"/>
                <a:sym typeface="+mn-lt"/>
              </a:rPr>
              <a:t>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01FD4A-E061-4B7E-4E37-1D2B9CE2C4E0}"/>
              </a:ext>
            </a:extLst>
          </p:cNvPr>
          <p:cNvSpPr txBox="1"/>
          <p:nvPr/>
        </p:nvSpPr>
        <p:spPr>
          <a:xfrm>
            <a:off x="2177585" y="1678800"/>
            <a:ext cx="783683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 err="1">
                <a:solidFill>
                  <a:schemeClr val="bg2">
                    <a:lumMod val="25000"/>
                  </a:schemeClr>
                </a:solidFill>
                <a:cs typeface="+mn-ea"/>
                <a:sym typeface="+mn-lt"/>
              </a:rPr>
              <a:t>DealTracker</a:t>
            </a:r>
            <a:endParaRPr lang="en-US" altLang="zh-CN" sz="8800" b="1" dirty="0">
              <a:solidFill>
                <a:schemeClr val="bg2">
                  <a:lumMod val="2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453457-EF86-37F9-7370-35566CCA65BB}"/>
              </a:ext>
            </a:extLst>
          </p:cNvPr>
          <p:cNvSpPr/>
          <p:nvPr/>
        </p:nvSpPr>
        <p:spPr>
          <a:xfrm>
            <a:off x="5191735" y="5392919"/>
            <a:ext cx="5879496" cy="36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70000"/>
              </a:lnSpc>
            </a:pP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Team: Leyan Chen, </a:t>
            </a:r>
            <a:r>
              <a:rPr lang="en-US" altLang="zh-CN" sz="2400" b="1" dirty="0" err="1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Yijia</a:t>
            </a: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 Chen, </a:t>
            </a:r>
            <a:r>
              <a:rPr lang="en-US" altLang="zh-CN" sz="2400" b="1" dirty="0" err="1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Juling</a:t>
            </a:r>
            <a:r>
              <a:rPr lang="en-US" altLang="zh-CN" sz="2400" b="1" dirty="0">
                <a:solidFill>
                  <a:schemeClr val="bg1">
                    <a:lumMod val="65000"/>
                  </a:schemeClr>
                </a:solidFill>
                <a:cs typeface="+mn-ea"/>
                <a:sym typeface="+mn-lt"/>
              </a:rPr>
              <a:t> Fan</a:t>
            </a:r>
          </a:p>
        </p:txBody>
      </p:sp>
    </p:spTree>
    <p:extLst>
      <p:ext uri="{BB962C8B-B14F-4D97-AF65-F5344CB8AC3E}">
        <p14:creationId xmlns:p14="http://schemas.microsoft.com/office/powerpoint/2010/main" val="3426660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B3823-608D-3CA3-D3EE-DDB9A50B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F543A9A7-D48B-F2A5-8D21-C32352028D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BFF48819-60E6-C72B-5BB3-F21DB0856CAD}"/>
              </a:ext>
            </a:extLst>
          </p:cNvPr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150370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D64E-F9CD-AA59-1563-A7F494A8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F248665A-6C3D-160D-6107-34024F786A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29B8FE83-7172-EBEF-ABB8-400BB29AFE73}"/>
              </a:ext>
            </a:extLst>
          </p:cNvPr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Working Division</a:t>
            </a: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43C2E92C-A035-CB97-90D7-A80BAF641F87}"/>
              </a:ext>
            </a:extLst>
          </p:cNvPr>
          <p:cNvSpPr/>
          <p:nvPr/>
        </p:nvSpPr>
        <p:spPr>
          <a:xfrm>
            <a:off x="1908783" y="2501248"/>
            <a:ext cx="1993200" cy="219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Sensor</a:t>
            </a:r>
            <a:endParaRPr sz="2400"/>
          </a:p>
        </p:txBody>
      </p:sp>
      <p:sp>
        <p:nvSpPr>
          <p:cNvPr id="5" name="Google Shape;62;p14">
            <a:extLst>
              <a:ext uri="{FF2B5EF4-FFF2-40B4-BE49-F238E27FC236}">
                <a16:creationId xmlns:a16="http://schemas.microsoft.com/office/drawing/2014/main" id="{35E19F14-32B4-783D-E622-3727ACD5763C}"/>
              </a:ext>
            </a:extLst>
          </p:cNvPr>
          <p:cNvSpPr/>
          <p:nvPr/>
        </p:nvSpPr>
        <p:spPr>
          <a:xfrm>
            <a:off x="4789650" y="2501248"/>
            <a:ext cx="1993200" cy="219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External API</a:t>
            </a:r>
            <a:endParaRPr sz="2400"/>
          </a:p>
        </p:txBody>
      </p:sp>
      <p:sp>
        <p:nvSpPr>
          <p:cNvPr id="6" name="Google Shape;63;p14">
            <a:extLst>
              <a:ext uri="{FF2B5EF4-FFF2-40B4-BE49-F238E27FC236}">
                <a16:creationId xmlns:a16="http://schemas.microsoft.com/office/drawing/2014/main" id="{3DA9DA36-AC28-DF6A-9788-297EC771D371}"/>
              </a:ext>
            </a:extLst>
          </p:cNvPr>
          <p:cNvSpPr/>
          <p:nvPr/>
        </p:nvSpPr>
        <p:spPr>
          <a:xfrm>
            <a:off x="7670517" y="2501248"/>
            <a:ext cx="1993200" cy="219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Database</a:t>
            </a:r>
            <a:endParaRPr sz="2400"/>
          </a:p>
        </p:txBody>
      </p:sp>
      <p:sp>
        <p:nvSpPr>
          <p:cNvPr id="7" name="Google Shape;64;p14">
            <a:extLst>
              <a:ext uri="{FF2B5EF4-FFF2-40B4-BE49-F238E27FC236}">
                <a16:creationId xmlns:a16="http://schemas.microsoft.com/office/drawing/2014/main" id="{0D0ADF25-107C-9475-615D-686A0776D3F7}"/>
              </a:ext>
            </a:extLst>
          </p:cNvPr>
          <p:cNvSpPr/>
          <p:nvPr/>
        </p:nvSpPr>
        <p:spPr>
          <a:xfrm>
            <a:off x="1918450" y="4934148"/>
            <a:ext cx="7735600" cy="1438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2400"/>
              <a:t>UI and backends to each part</a:t>
            </a:r>
            <a:endParaRPr sz="2400"/>
          </a:p>
        </p:txBody>
      </p:sp>
      <p:sp>
        <p:nvSpPr>
          <p:cNvPr id="8" name="Google Shape;65;p14">
            <a:extLst>
              <a:ext uri="{FF2B5EF4-FFF2-40B4-BE49-F238E27FC236}">
                <a16:creationId xmlns:a16="http://schemas.microsoft.com/office/drawing/2014/main" id="{1EDEE94D-1313-03EB-F1DC-FFE716D30955}"/>
              </a:ext>
            </a:extLst>
          </p:cNvPr>
          <p:cNvSpPr/>
          <p:nvPr/>
        </p:nvSpPr>
        <p:spPr>
          <a:xfrm>
            <a:off x="2133183" y="1405515"/>
            <a:ext cx="1544400" cy="76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/>
              <a:t>Leyan Chen</a:t>
            </a:r>
            <a:endParaRPr sz="1600"/>
          </a:p>
        </p:txBody>
      </p:sp>
      <p:sp>
        <p:nvSpPr>
          <p:cNvPr id="9" name="Google Shape;66;p14">
            <a:extLst>
              <a:ext uri="{FF2B5EF4-FFF2-40B4-BE49-F238E27FC236}">
                <a16:creationId xmlns:a16="http://schemas.microsoft.com/office/drawing/2014/main" id="{2D019D4B-234F-D9F7-FABB-F3E5485133E7}"/>
              </a:ext>
            </a:extLst>
          </p:cNvPr>
          <p:cNvSpPr/>
          <p:nvPr/>
        </p:nvSpPr>
        <p:spPr>
          <a:xfrm>
            <a:off x="5014050" y="1405515"/>
            <a:ext cx="1544400" cy="76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/>
              <a:t>Yijia Chen</a:t>
            </a:r>
            <a:endParaRPr sz="1600"/>
          </a:p>
        </p:txBody>
      </p:sp>
      <p:sp>
        <p:nvSpPr>
          <p:cNvPr id="10" name="Google Shape;67;p14">
            <a:extLst>
              <a:ext uri="{FF2B5EF4-FFF2-40B4-BE49-F238E27FC236}">
                <a16:creationId xmlns:a16="http://schemas.microsoft.com/office/drawing/2014/main" id="{A256F2FA-FF13-042D-F6EB-5AB407D3D592}"/>
              </a:ext>
            </a:extLst>
          </p:cNvPr>
          <p:cNvSpPr/>
          <p:nvPr/>
        </p:nvSpPr>
        <p:spPr>
          <a:xfrm>
            <a:off x="7894917" y="1405515"/>
            <a:ext cx="1544400" cy="76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/>
              <a:t>Juling Fan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189860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793E7-3B37-5B69-B80F-8FA47490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9586278A-FC6C-57A9-1BDB-54A2C45CB1F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2601857E-059F-FC42-1623-6CC79C87C348}"/>
              </a:ext>
            </a:extLst>
          </p:cNvPr>
          <p:cNvSpPr txBox="1"/>
          <p:nvPr/>
        </p:nvSpPr>
        <p:spPr>
          <a:xfrm>
            <a:off x="716089" y="397243"/>
            <a:ext cx="5858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MVVM Architecture Diagram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81FC0C-12E2-F909-70CB-FCBD7BD504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104" y="1493266"/>
            <a:ext cx="3477534" cy="405165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B645324-457B-1177-F3C8-045C298788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0002"/>
          <a:stretch>
            <a:fillRect/>
          </a:stretch>
        </p:blipFill>
        <p:spPr>
          <a:xfrm>
            <a:off x="5082521" y="1265810"/>
            <a:ext cx="2320460" cy="504687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83B183B-4C7E-4864-2280-9D740C47695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205"/>
          <a:stretch>
            <a:fillRect/>
          </a:stretch>
        </p:blipFill>
        <p:spPr>
          <a:xfrm>
            <a:off x="8268728" y="2611525"/>
            <a:ext cx="3057525" cy="217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15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EDE53-AE06-E9A6-33AC-F230D9212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E2BF4FDA-ACE5-9608-07B5-33D922DD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D76A364-7A4F-5642-4C12-E48204CF1BF8}"/>
              </a:ext>
            </a:extLst>
          </p:cNvPr>
          <p:cNvSpPr txBox="1"/>
          <p:nvPr/>
        </p:nvSpPr>
        <p:spPr>
          <a:xfrm>
            <a:off x="733917" y="153302"/>
            <a:ext cx="64288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Dependency diagram &amp; Data flow</a:t>
            </a:r>
          </a:p>
        </p:txBody>
      </p:sp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D7DF6E84-10F7-CF5A-50CD-1AB3D3C6A423}"/>
              </a:ext>
            </a:extLst>
          </p:cNvPr>
          <p:cNvSpPr/>
          <p:nvPr/>
        </p:nvSpPr>
        <p:spPr>
          <a:xfrm>
            <a:off x="847035" y="920463"/>
            <a:ext cx="3871531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UI (Compose Screens)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4E39C13-07EF-9731-BD11-C65B4BC21DE7}"/>
              </a:ext>
            </a:extLst>
          </p:cNvPr>
          <p:cNvCxnSpPr/>
          <p:nvPr/>
        </p:nvCxnSpPr>
        <p:spPr>
          <a:xfrm>
            <a:off x="2717327" y="1443683"/>
            <a:ext cx="0" cy="499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Google Shape;61;p14">
            <a:extLst>
              <a:ext uri="{FF2B5EF4-FFF2-40B4-BE49-F238E27FC236}">
                <a16:creationId xmlns:a16="http://schemas.microsoft.com/office/drawing/2014/main" id="{9618AC75-DBC2-1C8C-460C-4E6B3A05F910}"/>
              </a:ext>
            </a:extLst>
          </p:cNvPr>
          <p:cNvSpPr/>
          <p:nvPr/>
        </p:nvSpPr>
        <p:spPr>
          <a:xfrm>
            <a:off x="847035" y="1943186"/>
            <a:ext cx="7349905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 User browses Home page (categories, deals, search)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6F43E99-B2A5-DD74-5B40-D5F075B72AA5}"/>
              </a:ext>
            </a:extLst>
          </p:cNvPr>
          <p:cNvCxnSpPr/>
          <p:nvPr/>
        </p:nvCxnSpPr>
        <p:spPr>
          <a:xfrm>
            <a:off x="2717327" y="2466406"/>
            <a:ext cx="0" cy="499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34E659BD-2312-7F1A-CB44-4D78ECAB7397}"/>
              </a:ext>
            </a:extLst>
          </p:cNvPr>
          <p:cNvSpPr txBox="1"/>
          <p:nvPr/>
        </p:nvSpPr>
        <p:spPr>
          <a:xfrm>
            <a:off x="2782800" y="2494317"/>
            <a:ext cx="1349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 err="1"/>
              <a:t>StateFlow</a:t>
            </a:r>
            <a:endParaRPr lang="zh-CN" altLang="en-US" b="1" dirty="0"/>
          </a:p>
        </p:txBody>
      </p:sp>
      <p:sp>
        <p:nvSpPr>
          <p:cNvPr id="10" name="Google Shape;61;p14">
            <a:extLst>
              <a:ext uri="{FF2B5EF4-FFF2-40B4-BE49-F238E27FC236}">
                <a16:creationId xmlns:a16="http://schemas.microsoft.com/office/drawing/2014/main" id="{9539A14D-5347-1DCD-22A7-8CA5FCB10F85}"/>
              </a:ext>
            </a:extLst>
          </p:cNvPr>
          <p:cNvSpPr/>
          <p:nvPr/>
        </p:nvSpPr>
        <p:spPr>
          <a:xfrm>
            <a:off x="847035" y="2955777"/>
            <a:ext cx="9853622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Domain Layer (Repository Interfaces: </a:t>
            </a:r>
            <a:r>
              <a:rPr lang="en-US" sz="2400" dirty="0" err="1"/>
              <a:t>ProductRepository</a:t>
            </a:r>
            <a:r>
              <a:rPr lang="en-US" sz="2400" dirty="0"/>
              <a:t>, </a:t>
            </a:r>
            <a:r>
              <a:rPr lang="en-US" sz="2400" dirty="0" err="1"/>
              <a:t>PriceRepository</a:t>
            </a:r>
            <a:r>
              <a:rPr lang="en-US" sz="2400" dirty="0"/>
              <a:t>)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A4A556D9-94DE-158E-EC8D-BAF116D2B57A}"/>
              </a:ext>
            </a:extLst>
          </p:cNvPr>
          <p:cNvCxnSpPr/>
          <p:nvPr/>
        </p:nvCxnSpPr>
        <p:spPr>
          <a:xfrm>
            <a:off x="2717327" y="3478997"/>
            <a:ext cx="0" cy="499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Google Shape;61;p14">
            <a:extLst>
              <a:ext uri="{FF2B5EF4-FFF2-40B4-BE49-F238E27FC236}">
                <a16:creationId xmlns:a16="http://schemas.microsoft.com/office/drawing/2014/main" id="{D3B39273-693D-3D78-9415-4315B3A4AC32}"/>
              </a:ext>
            </a:extLst>
          </p:cNvPr>
          <p:cNvSpPr/>
          <p:nvPr/>
        </p:nvSpPr>
        <p:spPr>
          <a:xfrm>
            <a:off x="803492" y="3945427"/>
            <a:ext cx="4432537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Data Layer (Repositories </a:t>
            </a:r>
            <a:r>
              <a:rPr lang="en-US" sz="2400" dirty="0" err="1"/>
              <a:t>Impl</a:t>
            </a:r>
            <a:r>
              <a:rPr lang="en-US" sz="2400" dirty="0"/>
              <a:t>)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A3A4105-CD95-E68B-DADA-7DA24EC95764}"/>
              </a:ext>
            </a:extLst>
          </p:cNvPr>
          <p:cNvCxnSpPr/>
          <p:nvPr/>
        </p:nvCxnSpPr>
        <p:spPr>
          <a:xfrm>
            <a:off x="2717327" y="4468647"/>
            <a:ext cx="0" cy="499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Google Shape;61;p14">
            <a:extLst>
              <a:ext uri="{FF2B5EF4-FFF2-40B4-BE49-F238E27FC236}">
                <a16:creationId xmlns:a16="http://schemas.microsoft.com/office/drawing/2014/main" id="{B9F28497-D09F-F0FF-9E12-AFD0BB01D378}"/>
              </a:ext>
            </a:extLst>
          </p:cNvPr>
          <p:cNvSpPr/>
          <p:nvPr/>
        </p:nvSpPr>
        <p:spPr>
          <a:xfrm>
            <a:off x="759949" y="4968150"/>
            <a:ext cx="7436993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Remote APIs (</a:t>
            </a:r>
            <a:r>
              <a:rPr lang="en-US" sz="2400" dirty="0" err="1"/>
              <a:t>DatabaseApiService</a:t>
            </a:r>
            <a:r>
              <a:rPr lang="en-US" sz="2400" dirty="0"/>
              <a:t>, </a:t>
            </a:r>
            <a:r>
              <a:rPr lang="en-US" sz="2400" dirty="0" err="1"/>
              <a:t>PriceApi</a:t>
            </a:r>
            <a:r>
              <a:rPr lang="en-US" sz="2400" dirty="0"/>
              <a:t>, UserApi)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D06AC6F-7C2F-AE14-AC2D-83CB2E7E2E83}"/>
              </a:ext>
            </a:extLst>
          </p:cNvPr>
          <p:cNvCxnSpPr/>
          <p:nvPr/>
        </p:nvCxnSpPr>
        <p:spPr>
          <a:xfrm>
            <a:off x="2735156" y="5491370"/>
            <a:ext cx="0" cy="499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Google Shape;61;p14">
            <a:extLst>
              <a:ext uri="{FF2B5EF4-FFF2-40B4-BE49-F238E27FC236}">
                <a16:creationId xmlns:a16="http://schemas.microsoft.com/office/drawing/2014/main" id="{51882D4B-6462-6251-A2F4-163328FC9169}"/>
              </a:ext>
            </a:extLst>
          </p:cNvPr>
          <p:cNvSpPr/>
          <p:nvPr/>
        </p:nvSpPr>
        <p:spPr>
          <a:xfrm>
            <a:off x="716090" y="6014590"/>
            <a:ext cx="4356654" cy="5232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-US" sz="2400" dirty="0"/>
              <a:t>Backend (Node.js server)</a:t>
            </a:r>
          </a:p>
        </p:txBody>
      </p:sp>
    </p:spTree>
    <p:extLst>
      <p:ext uri="{BB962C8B-B14F-4D97-AF65-F5344CB8AC3E}">
        <p14:creationId xmlns:p14="http://schemas.microsoft.com/office/powerpoint/2010/main" val="1450528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4FCEE-382B-0CBE-6AF9-22D895CF7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E841FF5A-55E0-7595-0AEC-705F840241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FAE7825E-5D70-EFED-7AB7-BF3050E2609C}"/>
              </a:ext>
            </a:extLst>
          </p:cNvPr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Sensor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CC6B40-30A7-B8A4-7453-FCA350117361}"/>
              </a:ext>
            </a:extLst>
          </p:cNvPr>
          <p:cNvSpPr txBox="1"/>
          <p:nvPr/>
        </p:nvSpPr>
        <p:spPr>
          <a:xfrm>
            <a:off x="783402" y="1026909"/>
            <a:ext cx="857575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Implemented with Android </a:t>
            </a:r>
            <a:r>
              <a:rPr lang="en-US" altLang="zh-CN" dirty="0" err="1"/>
              <a:t>RecognizerIntent</a:t>
            </a:r>
            <a:r>
              <a:rPr lang="en-US" altLang="zh-CN" dirty="0"/>
              <a:t> + </a:t>
            </a:r>
            <a:r>
              <a:rPr lang="en-US" altLang="zh-CN" dirty="0" err="1"/>
              <a:t>ActivityResultLauncher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Result stored in </a:t>
            </a:r>
            <a:r>
              <a:rPr lang="en-US" altLang="zh-CN" dirty="0" err="1"/>
              <a:t>HomeViewModel</a:t>
            </a:r>
            <a:r>
              <a:rPr lang="en-US" altLang="zh-CN" dirty="0"/>
              <a:t> (</a:t>
            </a:r>
            <a:r>
              <a:rPr lang="en-US" altLang="zh-CN" dirty="0" err="1"/>
              <a:t>applyVoiceResult</a:t>
            </a:r>
            <a:r>
              <a:rPr lang="en-US" altLang="zh-CN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Handles errors and crashes: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Device without speech recognition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Empty voice result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Recognition canceled or failed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Testing / Debugging: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Checked normal flow, empty input, cancel, and unsupported device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Error messages displayed via </a:t>
            </a:r>
            <a:r>
              <a:rPr lang="en-US" altLang="zh-CN" dirty="0" err="1"/>
              <a:t>voiceError</a:t>
            </a:r>
            <a:r>
              <a:rPr lang="en-US" altLang="zh-CN" dirty="0"/>
              <a:t> </a:t>
            </a:r>
            <a:r>
              <a:rPr lang="en-US" altLang="zh-CN" dirty="0" err="1"/>
              <a:t>StateFlow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F9D500F-B447-A632-F6DC-4DA2BCEEBB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4306" y="3774931"/>
            <a:ext cx="2971800" cy="25812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A010886-7B67-95B1-258C-6778B2147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816" y="3889231"/>
            <a:ext cx="2943225" cy="24669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778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38778-0BD8-C408-D4F9-CCFFB7FB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6417DA6B-9405-8C72-BC24-F87F6659153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3BFEB7CC-C629-70A8-E735-E70C92D2C010}"/>
              </a:ext>
            </a:extLst>
          </p:cNvPr>
          <p:cNvSpPr txBox="1"/>
          <p:nvPr/>
        </p:nvSpPr>
        <p:spPr>
          <a:xfrm>
            <a:off x="953956" y="507042"/>
            <a:ext cx="32145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/>
              <a:t>API</a:t>
            </a:r>
          </a:p>
        </p:txBody>
      </p:sp>
      <p:sp>
        <p:nvSpPr>
          <p:cNvPr id="3" name="Google Shape;111;p16">
            <a:extLst>
              <a:ext uri="{FF2B5EF4-FFF2-40B4-BE49-F238E27FC236}">
                <a16:creationId xmlns:a16="http://schemas.microsoft.com/office/drawing/2014/main" id="{D4F031A1-8176-0003-3E03-A7761DE75165}"/>
              </a:ext>
            </a:extLst>
          </p:cNvPr>
          <p:cNvSpPr/>
          <p:nvPr/>
        </p:nvSpPr>
        <p:spPr>
          <a:xfrm>
            <a:off x="1669856" y="1778869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/>
              <a:t>User Management</a:t>
            </a:r>
            <a:endParaRPr sz="1700" dirty="0"/>
          </a:p>
        </p:txBody>
      </p:sp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3292778F-CE02-A188-9A9D-458530D2D97E}"/>
              </a:ext>
            </a:extLst>
          </p:cNvPr>
          <p:cNvSpPr/>
          <p:nvPr/>
        </p:nvSpPr>
        <p:spPr>
          <a:xfrm>
            <a:off x="4337696" y="1778869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Price &amp; history APIs</a:t>
            </a:r>
            <a:endParaRPr sz="1700"/>
          </a:p>
        </p:txBody>
      </p:sp>
      <p:sp>
        <p:nvSpPr>
          <p:cNvPr id="5" name="Google Shape;113;p16">
            <a:extLst>
              <a:ext uri="{FF2B5EF4-FFF2-40B4-BE49-F238E27FC236}">
                <a16:creationId xmlns:a16="http://schemas.microsoft.com/office/drawing/2014/main" id="{BE75A616-BF35-FE7B-6C77-27220F5F4F0F}"/>
              </a:ext>
            </a:extLst>
          </p:cNvPr>
          <p:cNvSpPr/>
          <p:nvPr/>
        </p:nvSpPr>
        <p:spPr>
          <a:xfrm>
            <a:off x="7005536" y="1778869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Product management</a:t>
            </a:r>
            <a:endParaRPr sz="1700"/>
          </a:p>
        </p:txBody>
      </p:sp>
      <p:sp>
        <p:nvSpPr>
          <p:cNvPr id="6" name="Google Shape;114;p16">
            <a:extLst>
              <a:ext uri="{FF2B5EF4-FFF2-40B4-BE49-F238E27FC236}">
                <a16:creationId xmlns:a16="http://schemas.microsoft.com/office/drawing/2014/main" id="{D64FAC6B-050C-8150-A28A-932CEBC03AAA}"/>
              </a:ext>
            </a:extLst>
          </p:cNvPr>
          <p:cNvSpPr/>
          <p:nvPr/>
        </p:nvSpPr>
        <p:spPr>
          <a:xfrm>
            <a:off x="1669856" y="3096807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Wishlist APIs</a:t>
            </a:r>
            <a:endParaRPr sz="1700"/>
          </a:p>
        </p:txBody>
      </p:sp>
      <p:sp>
        <p:nvSpPr>
          <p:cNvPr id="7" name="Google Shape;115;p16">
            <a:extLst>
              <a:ext uri="{FF2B5EF4-FFF2-40B4-BE49-F238E27FC236}">
                <a16:creationId xmlns:a16="http://schemas.microsoft.com/office/drawing/2014/main" id="{76ADCA04-FE5E-5727-2972-AA76AB672B30}"/>
              </a:ext>
            </a:extLst>
          </p:cNvPr>
          <p:cNvSpPr/>
          <p:nvPr/>
        </p:nvSpPr>
        <p:spPr>
          <a:xfrm>
            <a:off x="4337696" y="3096807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/>
              <a:t>Admin / maintenance APIs</a:t>
            </a:r>
            <a:endParaRPr sz="1700" dirty="0"/>
          </a:p>
        </p:txBody>
      </p:sp>
      <p:sp>
        <p:nvSpPr>
          <p:cNvPr id="8" name="Google Shape;116;p16">
            <a:extLst>
              <a:ext uri="{FF2B5EF4-FFF2-40B4-BE49-F238E27FC236}">
                <a16:creationId xmlns:a16="http://schemas.microsoft.com/office/drawing/2014/main" id="{3C5FCE7B-BC14-34D1-EE89-F8C77A4CFC34}"/>
              </a:ext>
            </a:extLst>
          </p:cNvPr>
          <p:cNvSpPr/>
          <p:nvPr/>
        </p:nvSpPr>
        <p:spPr>
          <a:xfrm>
            <a:off x="1669856" y="4414745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Scheduled job</a:t>
            </a:r>
            <a:endParaRPr sz="1700"/>
          </a:p>
        </p:txBody>
      </p:sp>
      <p:sp>
        <p:nvSpPr>
          <p:cNvPr id="9" name="Google Shape;117;p16">
            <a:extLst>
              <a:ext uri="{FF2B5EF4-FFF2-40B4-BE49-F238E27FC236}">
                <a16:creationId xmlns:a16="http://schemas.microsoft.com/office/drawing/2014/main" id="{1602086C-5221-89B8-593C-E136C7543864}"/>
              </a:ext>
            </a:extLst>
          </p:cNvPr>
          <p:cNvSpPr/>
          <p:nvPr/>
        </p:nvSpPr>
        <p:spPr>
          <a:xfrm>
            <a:off x="4337696" y="4414745"/>
            <a:ext cx="2118000" cy="819300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System / test endpoints</a:t>
            </a:r>
            <a:endParaRPr sz="1700"/>
          </a:p>
        </p:txBody>
      </p:sp>
      <p:sp>
        <p:nvSpPr>
          <p:cNvPr id="10" name="Google Shape;118;p16">
            <a:extLst>
              <a:ext uri="{FF2B5EF4-FFF2-40B4-BE49-F238E27FC236}">
                <a16:creationId xmlns:a16="http://schemas.microsoft.com/office/drawing/2014/main" id="{C96A8185-7093-8593-80C4-94D66D444CAA}"/>
              </a:ext>
            </a:extLst>
          </p:cNvPr>
          <p:cNvSpPr/>
          <p:nvPr/>
        </p:nvSpPr>
        <p:spPr>
          <a:xfrm>
            <a:off x="6620890" y="2954611"/>
            <a:ext cx="639683" cy="1476563"/>
          </a:xfrm>
          <a:prstGeom prst="leftBrace">
            <a:avLst>
              <a:gd name="adj1" fmla="val 30998"/>
              <a:gd name="adj2" fmla="val 459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9;p16">
            <a:extLst>
              <a:ext uri="{FF2B5EF4-FFF2-40B4-BE49-F238E27FC236}">
                <a16:creationId xmlns:a16="http://schemas.microsoft.com/office/drawing/2014/main" id="{33C598F9-7C4C-BB1B-34BB-59A2D7258AEC}"/>
              </a:ext>
            </a:extLst>
          </p:cNvPr>
          <p:cNvSpPr/>
          <p:nvPr/>
        </p:nvSpPr>
        <p:spPr>
          <a:xfrm>
            <a:off x="7399638" y="2805992"/>
            <a:ext cx="2118000" cy="390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import-initial</a:t>
            </a:r>
            <a:endParaRPr sz="1600"/>
          </a:p>
        </p:txBody>
      </p:sp>
      <p:sp>
        <p:nvSpPr>
          <p:cNvPr id="12" name="Google Shape;120;p16">
            <a:extLst>
              <a:ext uri="{FF2B5EF4-FFF2-40B4-BE49-F238E27FC236}">
                <a16:creationId xmlns:a16="http://schemas.microsoft.com/office/drawing/2014/main" id="{2AEFA110-40CE-550E-4F42-D26C4A776E23}"/>
              </a:ext>
            </a:extLst>
          </p:cNvPr>
          <p:cNvSpPr/>
          <p:nvPr/>
        </p:nvSpPr>
        <p:spPr>
          <a:xfrm>
            <a:off x="7399638" y="3497443"/>
            <a:ext cx="2118000" cy="390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update-all-prices</a:t>
            </a:r>
            <a:endParaRPr sz="1600"/>
          </a:p>
        </p:txBody>
      </p:sp>
      <p:sp>
        <p:nvSpPr>
          <p:cNvPr id="13" name="Google Shape;121;p16">
            <a:extLst>
              <a:ext uri="{FF2B5EF4-FFF2-40B4-BE49-F238E27FC236}">
                <a16:creationId xmlns:a16="http://schemas.microsoft.com/office/drawing/2014/main" id="{ED5825FA-53FE-3F3A-9EA3-A2DBAD7B38C5}"/>
              </a:ext>
            </a:extLst>
          </p:cNvPr>
          <p:cNvSpPr/>
          <p:nvPr/>
        </p:nvSpPr>
        <p:spPr>
          <a:xfrm>
            <a:off x="7399638" y="4188894"/>
            <a:ext cx="2118000" cy="390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sync-lowest-prices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901465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52D47-EA51-B687-72B4-0841C92F3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260F62AB-844F-D5BD-5A2A-CFC00BA4614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D8999A44-1193-922C-86E2-297E6DCD9831}"/>
              </a:ext>
            </a:extLst>
          </p:cNvPr>
          <p:cNvSpPr txBox="1"/>
          <p:nvPr/>
        </p:nvSpPr>
        <p:spPr>
          <a:xfrm>
            <a:off x="716089" y="397243"/>
            <a:ext cx="9932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Testing &amp; debugging</a:t>
            </a:r>
          </a:p>
        </p:txBody>
      </p:sp>
      <p:pic>
        <p:nvPicPr>
          <p:cNvPr id="3" name="Google Shape;158;p22">
            <a:extLst>
              <a:ext uri="{FF2B5EF4-FFF2-40B4-BE49-F238E27FC236}">
                <a16:creationId xmlns:a16="http://schemas.microsoft.com/office/drawing/2014/main" id="{8E077B16-E23F-F07E-CC67-20242FD963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951" y="2636371"/>
            <a:ext cx="11028098" cy="250572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AA92D84-6742-79B4-BF47-20C7FAF5D78E}"/>
              </a:ext>
            </a:extLst>
          </p:cNvPr>
          <p:cNvSpPr txBox="1"/>
          <p:nvPr/>
        </p:nvSpPr>
        <p:spPr>
          <a:xfrm>
            <a:off x="871909" y="1488043"/>
            <a:ext cx="98442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800" dirty="0">
                <a:solidFill>
                  <a:schemeClr val="dk2"/>
                </a:solidFill>
              </a:rPr>
              <a:t>I first added log statements in the code and inspected the backend server logs.</a:t>
            </a:r>
          </a:p>
        </p:txBody>
      </p:sp>
    </p:spTree>
    <p:extLst>
      <p:ext uri="{BB962C8B-B14F-4D97-AF65-F5344CB8AC3E}">
        <p14:creationId xmlns:p14="http://schemas.microsoft.com/office/powerpoint/2010/main" val="4003089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C1F7B-A97F-A0DD-9D8B-3C9882B9F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16DCF9D3-8AC4-C3FD-8780-629ADAD9043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395D1830-438D-1F21-2ED1-7E0F59F12FF1}"/>
              </a:ext>
            </a:extLst>
          </p:cNvPr>
          <p:cNvSpPr txBox="1"/>
          <p:nvPr/>
        </p:nvSpPr>
        <p:spPr>
          <a:xfrm>
            <a:off x="716089" y="397243"/>
            <a:ext cx="9932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Testing &amp; debugging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C3603D-3211-757A-58D6-FF768221CF03}"/>
              </a:ext>
            </a:extLst>
          </p:cNvPr>
          <p:cNvSpPr txBox="1"/>
          <p:nvPr/>
        </p:nvSpPr>
        <p:spPr>
          <a:xfrm>
            <a:off x="6511193" y="1270533"/>
            <a:ext cx="5604029" cy="4205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800" dirty="0">
                <a:solidFill>
                  <a:schemeClr val="dk2"/>
                </a:solidFill>
              </a:rPr>
              <a:t>Then I used the </a:t>
            </a:r>
            <a:r>
              <a:rPr lang="en-US" altLang="zh-CN" sz="1800" dirty="0" err="1">
                <a:solidFill>
                  <a:schemeClr val="dk2"/>
                </a:solidFill>
              </a:rPr>
              <a:t>RapidAPI</a:t>
            </a:r>
            <a:r>
              <a:rPr lang="en-US" altLang="zh-CN" sz="1800" dirty="0">
                <a:solidFill>
                  <a:schemeClr val="dk2"/>
                </a:solidFill>
              </a:rPr>
              <a:t> console and Postman to manually test each endpoint to confirm that the backend was parsing and returning fields correctly.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dk2"/>
              </a:solidFill>
            </a:endParaRPr>
          </a:p>
          <a:p>
            <a:pPr>
              <a:lnSpc>
                <a:spcPct val="150000"/>
              </a:lnSpc>
            </a:pPr>
            <a:endParaRPr lang="en-US" altLang="zh-CN" sz="1800" dirty="0">
              <a:solidFill>
                <a:schemeClr val="dk2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800" b="1" dirty="0">
                <a:solidFill>
                  <a:schemeClr val="dk2"/>
                </a:solidFill>
              </a:rPr>
              <a:t>Conclusion: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1800" dirty="0">
                <a:solidFill>
                  <a:schemeClr val="dk2"/>
                </a:solidFill>
              </a:rPr>
              <a:t>API has reached the free request limit and the service stops responding;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>
                <a:solidFill>
                  <a:schemeClr val="dk2"/>
                </a:solidFill>
              </a:rPr>
              <a:t>T</a:t>
            </a:r>
            <a:r>
              <a:rPr lang="en-US" altLang="zh-CN" sz="1800" dirty="0">
                <a:solidFill>
                  <a:schemeClr val="dk2"/>
                </a:solidFill>
              </a:rPr>
              <a:t>he API is too slow, in which case we should consider removing the timeout limit.</a:t>
            </a:r>
          </a:p>
        </p:txBody>
      </p:sp>
      <p:pic>
        <p:nvPicPr>
          <p:cNvPr id="2" name="Google Shape;135;p18">
            <a:extLst>
              <a:ext uri="{FF2B5EF4-FFF2-40B4-BE49-F238E27FC236}">
                <a16:creationId xmlns:a16="http://schemas.microsoft.com/office/drawing/2014/main" id="{5FFFCBD0-FC9E-456D-251A-CDEE926AC7A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701" y="1442263"/>
            <a:ext cx="5604029" cy="35533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046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95C6DD7-DD9D-1055-81E9-54C26791FE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2" name="Google Shape;152;p20" title="截屏2025-12-02 17.01.5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8270" y="1552207"/>
            <a:ext cx="7555459" cy="4908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>
            <a:spLocks noGrp="1"/>
          </p:cNvSpPr>
          <p:nvPr>
            <p:ph type="body" idx="1"/>
          </p:nvPr>
        </p:nvSpPr>
        <p:spPr>
          <a:xfrm>
            <a:off x="790250" y="988449"/>
            <a:ext cx="4594550" cy="40011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" sz="2000" dirty="0"/>
              <a:t>Database: AWS-aurora (MySQL)</a:t>
            </a:r>
            <a:endParaRPr sz="2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EE7D4AB-8809-D152-8D16-579944B51AB7}"/>
              </a:ext>
            </a:extLst>
          </p:cNvPr>
          <p:cNvSpPr txBox="1"/>
          <p:nvPr/>
        </p:nvSpPr>
        <p:spPr>
          <a:xfrm>
            <a:off x="716089" y="397243"/>
            <a:ext cx="3214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Persistence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3C2B7-40F0-65C4-DF5D-D6AC5220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06CDCF79-FDC3-192B-31EA-F6EDF64F581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6CF3143-7B21-D997-2C46-ADD2FA0746FF}"/>
              </a:ext>
            </a:extLst>
          </p:cNvPr>
          <p:cNvSpPr txBox="1"/>
          <p:nvPr/>
        </p:nvSpPr>
        <p:spPr>
          <a:xfrm>
            <a:off x="658938" y="635896"/>
            <a:ext cx="8783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Obstacles</a:t>
            </a:r>
            <a:endParaRPr lang="zh-CN" altLang="en-US" sz="2800" b="1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E744FE0-8B4C-AF05-538E-D0D476CEF491}"/>
              </a:ext>
            </a:extLst>
          </p:cNvPr>
          <p:cNvSpPr txBox="1">
            <a:spLocks/>
          </p:cNvSpPr>
          <p:nvPr/>
        </p:nvSpPr>
        <p:spPr>
          <a:xfrm>
            <a:off x="658938" y="1539956"/>
            <a:ext cx="11609262" cy="44205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00000"/>
              </a:lnSpc>
              <a:spcAft>
                <a:spcPts val="1200"/>
              </a:spcAft>
              <a:buAutoNum type="arabicPeriod"/>
            </a:pPr>
            <a:r>
              <a:rPr lang="en-US" altLang="zh-CN" sz="2400" noProof="1"/>
              <a:t>Search logic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 altLang="zh-CN" sz="2000" noProof="1"/>
              <a:t>search strategy: exact matching for ensure accuracy, or fuzzy matching for better user experience.</a:t>
            </a:r>
          </a:p>
          <a:p>
            <a:pPr lvl="1">
              <a:lnSpc>
                <a:spcPct val="100000"/>
              </a:lnSpc>
              <a:spcAft>
                <a:spcPts val="1200"/>
              </a:spcAft>
            </a:pPr>
            <a:r>
              <a:rPr lang="en-US" altLang="zh-CN" sz="2000" noProof="1"/>
              <a:t>search results: return all results at once, or support pagination and real-time filtering.</a:t>
            </a:r>
          </a:p>
          <a:p>
            <a:pPr marL="457200" indent="-457200">
              <a:lnSpc>
                <a:spcPct val="100000"/>
              </a:lnSpc>
              <a:spcAft>
                <a:spcPts val="1200"/>
              </a:spcAft>
              <a:buAutoNum type="arabicPeriod"/>
            </a:pPr>
            <a:r>
              <a:rPr lang="en-US" altLang="zh-CN" sz="2400" noProof="1"/>
              <a:t>specify same products between different platforms</a:t>
            </a:r>
          </a:p>
          <a:p>
            <a:pPr marL="457200" indent="-457200">
              <a:lnSpc>
                <a:spcPct val="100000"/>
              </a:lnSpc>
              <a:spcAft>
                <a:spcPts val="1200"/>
              </a:spcAft>
              <a:buAutoNum type="arabicPeriod"/>
            </a:pPr>
            <a:r>
              <a:rPr lang="en-US" altLang="zh-CN" sz="2400" noProof="1"/>
              <a:t>Api has quota</a:t>
            </a:r>
          </a:p>
          <a:p>
            <a:pPr marL="457200" indent="-457200">
              <a:lnSpc>
                <a:spcPct val="100000"/>
              </a:lnSpc>
              <a:spcAft>
                <a:spcPts val="1200"/>
              </a:spcAft>
              <a:buAutoNum type="arabicPeriod"/>
            </a:pPr>
            <a:r>
              <a:rPr lang="en-US" altLang="zh-CN" sz="2400" noProof="1"/>
              <a:t>Conflicts of our commits</a:t>
            </a:r>
          </a:p>
        </p:txBody>
      </p:sp>
    </p:spTree>
    <p:extLst>
      <p:ext uri="{BB962C8B-B14F-4D97-AF65-F5344CB8AC3E}">
        <p14:creationId xmlns:p14="http://schemas.microsoft.com/office/powerpoint/2010/main" val="1162089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AF377-ADB0-2E3F-2EAB-2A889545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A807BF2-2F74-0D1F-9CFF-C5CE02496BC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内容占位符 2">
            <a:extLst>
              <a:ext uri="{FF2B5EF4-FFF2-40B4-BE49-F238E27FC236}">
                <a16:creationId xmlns:a16="http://schemas.microsoft.com/office/drawing/2014/main" id="{830E8F0F-E7C6-1CCD-D45B-820D25AE24D3}"/>
              </a:ext>
            </a:extLst>
          </p:cNvPr>
          <p:cNvSpPr txBox="1">
            <a:spLocks/>
          </p:cNvSpPr>
          <p:nvPr/>
        </p:nvSpPr>
        <p:spPr>
          <a:xfrm>
            <a:off x="590940" y="297516"/>
            <a:ext cx="11279062" cy="6262968"/>
          </a:xfrm>
          <a:prstGeom prst="rect">
            <a:avLst/>
          </a:prstGeom>
        </p:spPr>
        <p:txBody>
          <a:bodyPr numCol="2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altLang="zh-CN" sz="2400" b="1" dirty="0">
                <a:latin typeface="+mn-ea"/>
              </a:rPr>
              <a:t>Progress we’ve made: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Basic MVVM &amp; workflow: ✅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Multi-platform price integration &amp; compare : ✅ More platforms will be added in future.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Daily scheduled multi-platform update: ✅ Automatically sync the products table to the newest lowest prices every day.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Smarter product modeling: ✅ (A new function to generate concise, user-friendly titles)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Sensor (microphone) : ✅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Account management (register &amp; login): ✅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Data persistence : ✅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Product search &amp; price alert: In progress…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altLang="zh-CN" sz="1600" noProof="1">
                <a:latin typeface="+mn-ea"/>
              </a:rPr>
              <a:t> AI recommendation : ❌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zh-CN" altLang="en-US" sz="2400" b="1" dirty="0">
                <a:latin typeface="+mn-ea"/>
              </a:rPr>
              <a:t>Stretch </a:t>
            </a:r>
            <a:r>
              <a:rPr lang="en-US" altLang="zh-CN" sz="2400" b="1" dirty="0">
                <a:latin typeface="+mn-ea"/>
              </a:rPr>
              <a:t>g</a:t>
            </a:r>
            <a:r>
              <a:rPr lang="zh-CN" altLang="en-US" sz="2400" b="1" dirty="0">
                <a:latin typeface="+mn-ea"/>
              </a:rPr>
              <a:t>oals </a:t>
            </a:r>
            <a:r>
              <a:rPr lang="en-US" altLang="zh-CN" sz="2400" b="1" dirty="0">
                <a:latin typeface="+mn-ea"/>
              </a:rPr>
              <a:t>adjustment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zh-CN" altLang="en-US" sz="1800" dirty="0">
                <a:latin typeface="+mn-ea"/>
              </a:rPr>
              <a:t>Social Sharing: </a:t>
            </a:r>
            <a:r>
              <a:rPr lang="en-US" altLang="zh-CN" sz="1800" noProof="1">
                <a:latin typeface="+mn-ea"/>
              </a:rPr>
              <a:t>In progress…</a:t>
            </a:r>
            <a:endParaRPr lang="zh-CN" altLang="en-US" sz="1800" dirty="0">
              <a:latin typeface="+mn-ea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zh-CN" altLang="en-US" sz="1800" dirty="0">
                <a:latin typeface="+mn-ea"/>
              </a:rPr>
              <a:t>Smart Coupon Integration:</a:t>
            </a:r>
            <a:r>
              <a:rPr lang="en-US" altLang="zh-CN" sz="1800" noProof="1">
                <a:latin typeface="+mn-ea"/>
              </a:rPr>
              <a:t> ❌</a:t>
            </a:r>
          </a:p>
        </p:txBody>
      </p:sp>
    </p:spTree>
    <p:extLst>
      <p:ext uri="{BB962C8B-B14F-4D97-AF65-F5344CB8AC3E}">
        <p14:creationId xmlns:p14="http://schemas.microsoft.com/office/powerpoint/2010/main" val="235094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8C4EC-6B63-F158-ADB6-79282A9F3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9DC1E423-2870-0F14-FAEF-D528A116A15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E485C98-6051-1B3A-8453-60BD0F092E45}"/>
              </a:ext>
            </a:extLst>
          </p:cNvPr>
          <p:cNvSpPr txBox="1"/>
          <p:nvPr/>
        </p:nvSpPr>
        <p:spPr>
          <a:xfrm>
            <a:off x="2177585" y="1647050"/>
            <a:ext cx="783683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>
                <a:solidFill>
                  <a:schemeClr val="bg2">
                    <a:lumMod val="50000"/>
                  </a:schemeClr>
                </a:solidFill>
                <a:cs typeface="+mn-ea"/>
                <a:sym typeface="+mn-l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143286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434</Words>
  <Application>Microsoft Office PowerPoint</Application>
  <PresentationFormat>宽屏</PresentationFormat>
  <Paragraphs>86</Paragraphs>
  <Slides>13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Chen, Leyan</dc:creator>
  <cp:lastModifiedBy>Chen, Leyan</cp:lastModifiedBy>
  <cp:revision>196</cp:revision>
  <dcterms:created xsi:type="dcterms:W3CDTF">2025-11-11T11:09:59Z</dcterms:created>
  <dcterms:modified xsi:type="dcterms:W3CDTF">2025-12-02T23:07:41Z</dcterms:modified>
</cp:coreProperties>
</file>