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6"/>
  </p:notesMasterIdLst>
  <p:sldIdLst>
    <p:sldId id="288" r:id="rId2"/>
    <p:sldId id="298" r:id="rId3"/>
    <p:sldId id="292" r:id="rId4"/>
    <p:sldId id="311" r:id="rId5"/>
    <p:sldId id="309" r:id="rId6"/>
    <p:sldId id="258" r:id="rId7"/>
    <p:sldId id="301" r:id="rId8"/>
    <p:sldId id="303" r:id="rId9"/>
    <p:sldId id="299" r:id="rId10"/>
    <p:sldId id="306" r:id="rId11"/>
    <p:sldId id="263" r:id="rId12"/>
    <p:sldId id="305" r:id="rId13"/>
    <p:sldId id="293" r:id="rId14"/>
    <p:sldId id="290" r:id="rId1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1319" autoAdjust="0"/>
  </p:normalViewPr>
  <p:slideViewPr>
    <p:cSldViewPr snapToGrid="0">
      <p:cViewPr varScale="1">
        <p:scale>
          <a:sx n="100" d="100"/>
          <a:sy n="100" d="100"/>
        </p:scale>
        <p:origin x="4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4D110A-9CF1-4EF5-8068-64B4DE6CF48D}" type="datetimeFigureOut">
              <a:rPr lang="zh-CN" altLang="en-US" smtClean="0"/>
              <a:t>2025/12/2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B39CB8-6A4D-410E-AE32-A931C305A9B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B39CB8-6A4D-410E-AE32-A931C305A9B5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B39CB8-6A4D-410E-AE32-A931C305A9B5}" type="slidenum">
              <a:rPr lang="zh-CN" altLang="en-US" smtClean="0"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B39CB8-6A4D-410E-AE32-A931C305A9B5}" type="slidenum">
              <a:rPr lang="zh-CN" altLang="en-US" smtClean="0"/>
              <a:t>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B39CB8-6A4D-410E-AE32-A931C305A9B5}" type="slidenum">
              <a:rPr lang="zh-CN" altLang="en-US" smtClean="0"/>
              <a:t>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B39CB8-6A4D-410E-AE32-A931C305A9B5}" type="slidenum">
              <a:rPr lang="zh-CN" altLang="en-US" smtClean="0"/>
              <a:t>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ac9d22de03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ac9d22de03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B39CB8-6A4D-410E-AE32-A931C305A9B5}" type="slidenum">
              <a:rPr lang="zh-CN" altLang="en-US" smtClean="0"/>
              <a:t>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B39CB8-6A4D-410E-AE32-A931C305A9B5}" type="slidenum">
              <a:rPr lang="zh-CN" altLang="en-US" smtClean="0"/>
              <a:t>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B39CB8-6A4D-410E-AE32-A931C305A9B5}" type="slidenum">
              <a:rPr lang="zh-CN" altLang="en-US" smtClean="0"/>
              <a:t>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B39CB8-6A4D-410E-AE32-A931C305A9B5}" type="slidenum">
              <a:rPr lang="zh-CN" altLang="en-US" smtClean="0"/>
              <a:t>10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ac9d22de03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ac9d22de03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B39CB8-6A4D-410E-AE32-A931C305A9B5}" type="slidenum">
              <a:rPr lang="zh-CN" altLang="en-US" smtClean="0"/>
              <a:t>12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B39CB8-6A4D-410E-AE32-A931C305A9B5}" type="slidenum">
              <a:rPr lang="zh-CN" altLang="en-US" smtClean="0"/>
              <a:t>13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D2BDD-B491-4712-BE2C-E289FEB30588}" type="datetimeFigureOut">
              <a:rPr lang="zh-CN" altLang="en-US" smtClean="0"/>
              <a:t>2025/12/2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5A1842-BEA8-4687-B965-B757CBD4444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D2BDD-B491-4712-BE2C-E289FEB30588}" type="datetimeFigureOut">
              <a:rPr lang="zh-CN" altLang="en-US" smtClean="0"/>
              <a:t>2025/12/2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5A1842-BEA8-4687-B965-B757CBD4444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D2BDD-B491-4712-BE2C-E289FEB30588}" type="datetimeFigureOut">
              <a:rPr lang="zh-CN" altLang="en-US" smtClean="0"/>
              <a:t>2025/12/2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5A1842-BEA8-4687-B965-B757CBD4444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D2BDD-B491-4712-BE2C-E289FEB30588}" type="datetimeFigureOut">
              <a:rPr lang="zh-CN" altLang="en-US" smtClean="0"/>
              <a:t>2025/12/2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5A1842-BEA8-4687-B965-B757CBD4444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D2BDD-B491-4712-BE2C-E289FEB30588}" type="datetimeFigureOut">
              <a:rPr lang="zh-CN" altLang="en-US" smtClean="0"/>
              <a:t>2025/12/2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5A1842-BEA8-4687-B965-B757CBD4444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D2BDD-B491-4712-BE2C-E289FEB30588}" type="datetimeFigureOut">
              <a:rPr lang="zh-CN" altLang="en-US" smtClean="0"/>
              <a:t>2025/12/2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5A1842-BEA8-4687-B965-B757CBD4444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D2BDD-B491-4712-BE2C-E289FEB30588}" type="datetimeFigureOut">
              <a:rPr lang="zh-CN" altLang="en-US" smtClean="0"/>
              <a:t>2025/12/2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5A1842-BEA8-4687-B965-B757CBD4444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D2BDD-B491-4712-BE2C-E289FEB30588}" type="datetimeFigureOut">
              <a:rPr lang="zh-CN" altLang="en-US" smtClean="0"/>
              <a:t>2025/12/2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5A1842-BEA8-4687-B965-B757CBD4444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D2BDD-B491-4712-BE2C-E289FEB30588}" type="datetimeFigureOut">
              <a:rPr lang="zh-CN" altLang="en-US" smtClean="0"/>
              <a:t>2025/12/2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5A1842-BEA8-4687-B965-B757CBD4444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D2BDD-B491-4712-BE2C-E289FEB30588}" type="datetimeFigureOut">
              <a:rPr lang="zh-CN" altLang="en-US" smtClean="0"/>
              <a:t>2025/12/2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5A1842-BEA8-4687-B965-B757CBD4444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D2BDD-B491-4712-BE2C-E289FEB30588}" type="datetimeFigureOut">
              <a:rPr lang="zh-CN" altLang="en-US" smtClean="0"/>
              <a:t>2025/12/2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5A1842-BEA8-4687-B965-B757CBD4444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600" lvl="0" indent="-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200" lvl="1" indent="-423545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800" lvl="2" indent="-42354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38400" lvl="3" indent="-423545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8000" lvl="4" indent="-423545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657600" lvl="5" indent="-42354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267200" lvl="6" indent="-423545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76800" lvl="7" indent="-423545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486400" lvl="8" indent="-42354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B2D2BDD-B491-4712-BE2C-E289FEB30588}" type="datetimeFigureOut">
              <a:rPr lang="zh-CN" altLang="en-US" smtClean="0"/>
              <a:t>2025/12/2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35A1842-BEA8-4687-B965-B757CBD4444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github.com/buChloeCLY/CS501-Project-DealTracker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图片 29"/>
          <p:cNvPicPr>
            <a:picLocks noChangeAspect="1"/>
          </p:cNvPicPr>
          <p:nvPr/>
        </p:nvPicPr>
        <p:blipFill rotWithShape="1">
          <a:blip r:embed="rId3" cstate="screen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1391771" y="3261489"/>
            <a:ext cx="9679459" cy="12304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50000"/>
              </a:lnSpc>
              <a:spcAft>
                <a:spcPts val="600"/>
              </a:spcAft>
            </a:pPr>
            <a:r>
              <a:rPr lang="en-US" altLang="zh-CN" sz="2800" b="1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— Interim Project Presentation 2 </a:t>
            </a:r>
          </a:p>
          <a:p>
            <a:pPr algn="r">
              <a:lnSpc>
                <a:spcPct val="150000"/>
              </a:lnSpc>
            </a:pPr>
            <a:r>
              <a:rPr lang="en-US" altLang="zh-CN" sz="2000" b="1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  <a:hlinkClick r:id="rId4"/>
              </a:rPr>
              <a:t>https://github.com/buChloeCLY/CS501-Project-DealTracker</a:t>
            </a:r>
            <a:r>
              <a:rPr lang="en-US" altLang="zh-CN" sz="2000" b="1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 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2177585" y="1678800"/>
            <a:ext cx="783683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8800" b="1" dirty="0" err="1">
                <a:solidFill>
                  <a:schemeClr val="bg2">
                    <a:lumMod val="25000"/>
                  </a:schemeClr>
                </a:solidFill>
                <a:cs typeface="+mn-ea"/>
                <a:sym typeface="+mn-lt"/>
              </a:rPr>
              <a:t>DealTracker</a:t>
            </a:r>
            <a:endParaRPr lang="en-US" altLang="zh-CN" sz="8800" b="1" dirty="0">
              <a:solidFill>
                <a:schemeClr val="bg2">
                  <a:lumMod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5191735" y="5392919"/>
            <a:ext cx="5879496" cy="3684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70000"/>
              </a:lnSpc>
            </a:pPr>
            <a:r>
              <a:rPr lang="en-US" altLang="zh-CN" sz="2400" b="1" dirty="0">
                <a:solidFill>
                  <a:schemeClr val="bg1">
                    <a:lumMod val="65000"/>
                  </a:schemeClr>
                </a:solidFill>
                <a:cs typeface="+mn-ea"/>
                <a:sym typeface="+mn-lt"/>
              </a:rPr>
              <a:t>Team: Leyan Chen, </a:t>
            </a:r>
            <a:r>
              <a:rPr lang="en-US" altLang="zh-CN" sz="2400" b="1" dirty="0" err="1">
                <a:solidFill>
                  <a:schemeClr val="bg1">
                    <a:lumMod val="65000"/>
                  </a:schemeClr>
                </a:solidFill>
                <a:cs typeface="+mn-ea"/>
                <a:sym typeface="+mn-lt"/>
              </a:rPr>
              <a:t>Yijia</a:t>
            </a:r>
            <a:r>
              <a:rPr lang="en-US" altLang="zh-CN" sz="2400" b="1" dirty="0">
                <a:solidFill>
                  <a:schemeClr val="bg1">
                    <a:lumMod val="65000"/>
                  </a:schemeClr>
                </a:solidFill>
                <a:cs typeface="+mn-ea"/>
                <a:sym typeface="+mn-lt"/>
              </a:rPr>
              <a:t> Chen, </a:t>
            </a:r>
            <a:r>
              <a:rPr lang="en-US" altLang="zh-CN" sz="2400" b="1" dirty="0" err="1">
                <a:solidFill>
                  <a:schemeClr val="bg1">
                    <a:lumMod val="65000"/>
                  </a:schemeClr>
                </a:solidFill>
                <a:cs typeface="+mn-ea"/>
                <a:sym typeface="+mn-lt"/>
              </a:rPr>
              <a:t>Juling</a:t>
            </a:r>
            <a:r>
              <a:rPr lang="en-US" altLang="zh-CN" sz="2400" b="1" dirty="0">
                <a:solidFill>
                  <a:schemeClr val="bg1">
                    <a:lumMod val="65000"/>
                  </a:schemeClr>
                </a:solidFill>
                <a:cs typeface="+mn-ea"/>
                <a:sym typeface="+mn-lt"/>
              </a:rPr>
              <a:t> Fan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图片 29"/>
          <p:cNvPicPr>
            <a:picLocks noChangeAspect="1"/>
          </p:cNvPicPr>
          <p:nvPr/>
        </p:nvPicPr>
        <p:blipFill rotWithShape="1">
          <a:blip r:embed="rId3" cstate="screen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7" name="文本框 26"/>
          <p:cNvSpPr txBox="1"/>
          <p:nvPr/>
        </p:nvSpPr>
        <p:spPr>
          <a:xfrm>
            <a:off x="716089" y="397243"/>
            <a:ext cx="32145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/>
              <a:t>Live demo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图片 29"/>
          <p:cNvPicPr>
            <a:picLocks noChangeAspect="1"/>
          </p:cNvPicPr>
          <p:nvPr/>
        </p:nvPicPr>
        <p:blipFill rotWithShape="1">
          <a:blip r:embed="rId3" cstate="screen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7" name="文本框 26"/>
          <p:cNvSpPr txBox="1"/>
          <p:nvPr/>
        </p:nvSpPr>
        <p:spPr>
          <a:xfrm>
            <a:off x="716089" y="397243"/>
            <a:ext cx="32145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/>
              <a:t>Working Division</a:t>
            </a:r>
          </a:p>
        </p:txBody>
      </p:sp>
      <p:sp>
        <p:nvSpPr>
          <p:cNvPr id="4" name="Google Shape;61;p14"/>
          <p:cNvSpPr/>
          <p:nvPr/>
        </p:nvSpPr>
        <p:spPr>
          <a:xfrm>
            <a:off x="1908783" y="2501248"/>
            <a:ext cx="1993200" cy="2199600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-GB" sz="2400"/>
              <a:t>Sensor</a:t>
            </a:r>
            <a:endParaRPr sz="2400"/>
          </a:p>
        </p:txBody>
      </p:sp>
      <p:sp>
        <p:nvSpPr>
          <p:cNvPr id="5" name="Google Shape;62;p14"/>
          <p:cNvSpPr/>
          <p:nvPr/>
        </p:nvSpPr>
        <p:spPr>
          <a:xfrm>
            <a:off x="4789650" y="2501248"/>
            <a:ext cx="1993200" cy="2199600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-GB" sz="2400"/>
              <a:t>External API</a:t>
            </a:r>
            <a:endParaRPr sz="2400"/>
          </a:p>
        </p:txBody>
      </p:sp>
      <p:sp>
        <p:nvSpPr>
          <p:cNvPr id="6" name="Google Shape;63;p14"/>
          <p:cNvSpPr/>
          <p:nvPr/>
        </p:nvSpPr>
        <p:spPr>
          <a:xfrm>
            <a:off x="7670517" y="2501248"/>
            <a:ext cx="1993200" cy="2199600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-GB" sz="2400"/>
              <a:t>Database</a:t>
            </a:r>
            <a:endParaRPr sz="2400"/>
          </a:p>
        </p:txBody>
      </p:sp>
      <p:sp>
        <p:nvSpPr>
          <p:cNvPr id="7" name="Google Shape;64;p14"/>
          <p:cNvSpPr/>
          <p:nvPr/>
        </p:nvSpPr>
        <p:spPr>
          <a:xfrm>
            <a:off x="1918450" y="4934148"/>
            <a:ext cx="7735600" cy="1438800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-GB" sz="2400"/>
              <a:t>UI and backends to each part</a:t>
            </a:r>
            <a:endParaRPr sz="2400"/>
          </a:p>
        </p:txBody>
      </p:sp>
      <p:sp>
        <p:nvSpPr>
          <p:cNvPr id="8" name="Google Shape;65;p14"/>
          <p:cNvSpPr/>
          <p:nvPr/>
        </p:nvSpPr>
        <p:spPr>
          <a:xfrm>
            <a:off x="2133183" y="1405515"/>
            <a:ext cx="1544400" cy="7636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-GB" sz="1600"/>
              <a:t>Leyan Chen</a:t>
            </a:r>
            <a:endParaRPr sz="1600"/>
          </a:p>
        </p:txBody>
      </p:sp>
      <p:sp>
        <p:nvSpPr>
          <p:cNvPr id="9" name="Google Shape;66;p14"/>
          <p:cNvSpPr/>
          <p:nvPr/>
        </p:nvSpPr>
        <p:spPr>
          <a:xfrm>
            <a:off x="5014050" y="1405515"/>
            <a:ext cx="1544400" cy="7636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-GB" sz="1600"/>
              <a:t>Yijia Chen</a:t>
            </a:r>
            <a:endParaRPr sz="1600"/>
          </a:p>
        </p:txBody>
      </p:sp>
      <p:sp>
        <p:nvSpPr>
          <p:cNvPr id="10" name="Google Shape;67;p14"/>
          <p:cNvSpPr/>
          <p:nvPr/>
        </p:nvSpPr>
        <p:spPr>
          <a:xfrm>
            <a:off x="7894917" y="1405515"/>
            <a:ext cx="1544400" cy="7636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-GB" sz="1600"/>
              <a:t>Juling Fan</a:t>
            </a:r>
            <a:endParaRPr sz="16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图片 29"/>
          <p:cNvPicPr>
            <a:picLocks noChangeAspect="1"/>
          </p:cNvPicPr>
          <p:nvPr/>
        </p:nvPicPr>
        <p:blipFill rotWithShape="1">
          <a:blip r:embed="rId3" cstate="screen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7" name="文本框 26"/>
          <p:cNvSpPr txBox="1"/>
          <p:nvPr/>
        </p:nvSpPr>
        <p:spPr>
          <a:xfrm>
            <a:off x="716089" y="397243"/>
            <a:ext cx="585888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/>
              <a:t>MVVM Architecture Diagram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9104" y="1493266"/>
            <a:ext cx="3477534" cy="405165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5"/>
          <a:srcRect b="20002"/>
          <a:stretch>
            <a:fillRect/>
          </a:stretch>
        </p:blipFill>
        <p:spPr>
          <a:xfrm>
            <a:off x="5082521" y="1265810"/>
            <a:ext cx="2320460" cy="5046879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6"/>
          <a:srcRect t="6205"/>
          <a:stretch>
            <a:fillRect/>
          </a:stretch>
        </p:blipFill>
        <p:spPr>
          <a:xfrm>
            <a:off x="8268728" y="2611525"/>
            <a:ext cx="3057525" cy="217988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图片 29"/>
          <p:cNvPicPr>
            <a:picLocks noChangeAspect="1"/>
          </p:cNvPicPr>
          <p:nvPr/>
        </p:nvPicPr>
        <p:blipFill rotWithShape="1">
          <a:blip r:embed="rId3" cstate="screen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733917" y="153302"/>
            <a:ext cx="642888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/>
              <a:t>Dependency diagram &amp; Data flow</a:t>
            </a:r>
          </a:p>
        </p:txBody>
      </p:sp>
      <p:sp>
        <p:nvSpPr>
          <p:cNvPr id="4" name="Google Shape;61;p14"/>
          <p:cNvSpPr/>
          <p:nvPr/>
        </p:nvSpPr>
        <p:spPr>
          <a:xfrm>
            <a:off x="847035" y="920463"/>
            <a:ext cx="3871531" cy="523220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-US" sz="2400" dirty="0"/>
              <a:t>UI (Compose Screens)</a:t>
            </a:r>
          </a:p>
        </p:txBody>
      </p:sp>
      <p:cxnSp>
        <p:nvCxnSpPr>
          <p:cNvPr id="6" name="直接箭头连接符 5"/>
          <p:cNvCxnSpPr/>
          <p:nvPr/>
        </p:nvCxnSpPr>
        <p:spPr>
          <a:xfrm>
            <a:off x="2717327" y="1443683"/>
            <a:ext cx="0" cy="49950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" name="Google Shape;61;p14"/>
          <p:cNvSpPr/>
          <p:nvPr/>
        </p:nvSpPr>
        <p:spPr>
          <a:xfrm>
            <a:off x="847035" y="1943186"/>
            <a:ext cx="7349905" cy="523220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-US" sz="2400" dirty="0"/>
              <a:t> User browses Home page (categories, deals, search)</a:t>
            </a:r>
          </a:p>
        </p:txBody>
      </p:sp>
      <p:cxnSp>
        <p:nvCxnSpPr>
          <p:cNvPr id="8" name="直接箭头连接符 7"/>
          <p:cNvCxnSpPr/>
          <p:nvPr/>
        </p:nvCxnSpPr>
        <p:spPr>
          <a:xfrm>
            <a:off x="2717327" y="2466406"/>
            <a:ext cx="0" cy="49950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" name="文本框 8"/>
          <p:cNvSpPr txBox="1"/>
          <p:nvPr/>
        </p:nvSpPr>
        <p:spPr>
          <a:xfrm>
            <a:off x="2782800" y="2494317"/>
            <a:ext cx="13498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 err="1"/>
              <a:t>StateFlow</a:t>
            </a:r>
            <a:endParaRPr lang="zh-CN" altLang="en-US" b="1" dirty="0"/>
          </a:p>
        </p:txBody>
      </p:sp>
      <p:sp>
        <p:nvSpPr>
          <p:cNvPr id="10" name="Google Shape;61;p14"/>
          <p:cNvSpPr/>
          <p:nvPr/>
        </p:nvSpPr>
        <p:spPr>
          <a:xfrm>
            <a:off x="847035" y="2955777"/>
            <a:ext cx="9853622" cy="523220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-US" sz="2400" dirty="0"/>
              <a:t>Domain Layer (Repository Interfaces: </a:t>
            </a:r>
            <a:r>
              <a:rPr lang="en-US" sz="2400" dirty="0" err="1"/>
              <a:t>ProductRepository</a:t>
            </a:r>
            <a:r>
              <a:rPr lang="en-US" sz="2400" dirty="0"/>
              <a:t>, </a:t>
            </a:r>
            <a:r>
              <a:rPr lang="en-US" sz="2400" dirty="0" err="1"/>
              <a:t>PriceRepository</a:t>
            </a:r>
            <a:r>
              <a:rPr lang="en-US" sz="2400" dirty="0"/>
              <a:t>)</a:t>
            </a:r>
          </a:p>
        </p:txBody>
      </p:sp>
      <p:cxnSp>
        <p:nvCxnSpPr>
          <p:cNvPr id="11" name="直接箭头连接符 10"/>
          <p:cNvCxnSpPr/>
          <p:nvPr/>
        </p:nvCxnSpPr>
        <p:spPr>
          <a:xfrm>
            <a:off x="2717327" y="3478997"/>
            <a:ext cx="0" cy="49950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" name="Google Shape;61;p14"/>
          <p:cNvSpPr/>
          <p:nvPr/>
        </p:nvSpPr>
        <p:spPr>
          <a:xfrm>
            <a:off x="803492" y="3945427"/>
            <a:ext cx="4432537" cy="523220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-US" sz="2400" dirty="0"/>
              <a:t>Data Layer (Repositories </a:t>
            </a:r>
            <a:r>
              <a:rPr lang="en-US" sz="2400" dirty="0" err="1"/>
              <a:t>Impl</a:t>
            </a:r>
            <a:r>
              <a:rPr lang="en-US" sz="2400" dirty="0"/>
              <a:t>)</a:t>
            </a:r>
          </a:p>
        </p:txBody>
      </p:sp>
      <p:cxnSp>
        <p:nvCxnSpPr>
          <p:cNvPr id="13" name="直接箭头连接符 12"/>
          <p:cNvCxnSpPr/>
          <p:nvPr/>
        </p:nvCxnSpPr>
        <p:spPr>
          <a:xfrm>
            <a:off x="2717327" y="4468647"/>
            <a:ext cx="0" cy="49950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" name="Google Shape;61;p14"/>
          <p:cNvSpPr/>
          <p:nvPr/>
        </p:nvSpPr>
        <p:spPr>
          <a:xfrm>
            <a:off x="759949" y="4968150"/>
            <a:ext cx="7436993" cy="523220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-US" sz="2400" dirty="0"/>
              <a:t>Remote APIs (</a:t>
            </a:r>
            <a:r>
              <a:rPr lang="en-US" sz="2400" dirty="0" err="1"/>
              <a:t>DatabaseApiService</a:t>
            </a:r>
            <a:r>
              <a:rPr lang="en-US" sz="2400" dirty="0"/>
              <a:t>, </a:t>
            </a:r>
            <a:r>
              <a:rPr lang="en-US" sz="2400" dirty="0" err="1"/>
              <a:t>PriceApi</a:t>
            </a:r>
            <a:r>
              <a:rPr lang="en-US" sz="2400" dirty="0"/>
              <a:t>, UserApi)</a:t>
            </a:r>
          </a:p>
        </p:txBody>
      </p:sp>
      <p:cxnSp>
        <p:nvCxnSpPr>
          <p:cNvPr id="15" name="直接箭头连接符 14"/>
          <p:cNvCxnSpPr/>
          <p:nvPr/>
        </p:nvCxnSpPr>
        <p:spPr>
          <a:xfrm>
            <a:off x="2735156" y="5491370"/>
            <a:ext cx="0" cy="49950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8" name="Google Shape;61;p14"/>
          <p:cNvSpPr/>
          <p:nvPr/>
        </p:nvSpPr>
        <p:spPr>
          <a:xfrm>
            <a:off x="716090" y="6014590"/>
            <a:ext cx="4356654" cy="523220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-US" sz="2400" dirty="0"/>
              <a:t>Backend (Node.js server)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5A64DCFE-568F-4DE9-88DF-12A54073641C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2" name="Google Shape;72;p15"/>
          <p:cNvSpPr/>
          <p:nvPr/>
        </p:nvSpPr>
        <p:spPr>
          <a:xfrm>
            <a:off x="415600" y="1226633"/>
            <a:ext cx="1993200" cy="2763200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endParaRPr sz="2400"/>
          </a:p>
        </p:txBody>
      </p:sp>
      <p:sp>
        <p:nvSpPr>
          <p:cNvPr id="73" name="Google Shape;73;p15"/>
          <p:cNvSpPr/>
          <p:nvPr/>
        </p:nvSpPr>
        <p:spPr>
          <a:xfrm>
            <a:off x="4036000" y="1226633"/>
            <a:ext cx="1993200" cy="2763200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endParaRPr sz="2400"/>
          </a:p>
        </p:txBody>
      </p:sp>
      <p:sp>
        <p:nvSpPr>
          <p:cNvPr id="74" name="Google Shape;74;p15"/>
          <p:cNvSpPr/>
          <p:nvPr/>
        </p:nvSpPr>
        <p:spPr>
          <a:xfrm rot="-5400000">
            <a:off x="8178200" y="3061800"/>
            <a:ext cx="2136800" cy="2885600"/>
          </a:xfrm>
          <a:prstGeom prst="snip2SameRect">
            <a:avLst>
              <a:gd name="adj1" fmla="val 30293"/>
              <a:gd name="adj2" fmla="val 0"/>
            </a:avLst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endParaRPr sz="2400"/>
          </a:p>
        </p:txBody>
      </p:sp>
      <p:sp>
        <p:nvSpPr>
          <p:cNvPr id="76" name="Google Shape;76;p15"/>
          <p:cNvSpPr/>
          <p:nvPr/>
        </p:nvSpPr>
        <p:spPr>
          <a:xfrm>
            <a:off x="722633" y="1609100"/>
            <a:ext cx="1544400" cy="7636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" sz="1600"/>
              <a:t>HomeScreen</a:t>
            </a:r>
            <a:endParaRPr sz="1600"/>
          </a:p>
        </p:txBody>
      </p:sp>
      <p:sp>
        <p:nvSpPr>
          <p:cNvPr id="77" name="Google Shape;77;p15"/>
          <p:cNvSpPr/>
          <p:nvPr/>
        </p:nvSpPr>
        <p:spPr>
          <a:xfrm>
            <a:off x="4260400" y="1609100"/>
            <a:ext cx="1544400" cy="7636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" sz="1600"/>
              <a:t>DealScreen</a:t>
            </a:r>
            <a:endParaRPr sz="1600"/>
          </a:p>
        </p:txBody>
      </p:sp>
      <p:sp>
        <p:nvSpPr>
          <p:cNvPr id="78" name="Google Shape;78;p15"/>
          <p:cNvSpPr/>
          <p:nvPr/>
        </p:nvSpPr>
        <p:spPr>
          <a:xfrm>
            <a:off x="7798167" y="1609100"/>
            <a:ext cx="1818400" cy="7636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" sz="1600"/>
              <a:t>ProductScreen</a:t>
            </a:r>
            <a:endParaRPr sz="1600"/>
          </a:p>
        </p:txBody>
      </p:sp>
      <p:sp>
        <p:nvSpPr>
          <p:cNvPr id="79" name="Google Shape;79;p15"/>
          <p:cNvSpPr/>
          <p:nvPr/>
        </p:nvSpPr>
        <p:spPr>
          <a:xfrm>
            <a:off x="2900167" y="4221100"/>
            <a:ext cx="1818400" cy="7636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" sz="1600"/>
              <a:t>WishlistScreen</a:t>
            </a:r>
            <a:endParaRPr sz="1600"/>
          </a:p>
        </p:txBody>
      </p:sp>
      <p:sp>
        <p:nvSpPr>
          <p:cNvPr id="80" name="Google Shape;80;p15"/>
          <p:cNvSpPr/>
          <p:nvPr/>
        </p:nvSpPr>
        <p:spPr>
          <a:xfrm>
            <a:off x="5979767" y="4221100"/>
            <a:ext cx="1818400" cy="7636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" sz="1600"/>
              <a:t>ProfileScreen</a:t>
            </a:r>
            <a:endParaRPr sz="1600"/>
          </a:p>
        </p:txBody>
      </p:sp>
      <p:sp>
        <p:nvSpPr>
          <p:cNvPr id="81" name="Google Shape;81;p15"/>
          <p:cNvSpPr/>
          <p:nvPr/>
        </p:nvSpPr>
        <p:spPr>
          <a:xfrm>
            <a:off x="8931833" y="3556500"/>
            <a:ext cx="972400" cy="469600"/>
          </a:xfrm>
          <a:prstGeom prst="rect">
            <a:avLst/>
          </a:prstGeom>
          <a:solidFill>
            <a:srgbClr val="FCE5CD"/>
          </a:solidFill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" sz="1600"/>
              <a:t>Setting</a:t>
            </a:r>
            <a:endParaRPr sz="1600"/>
          </a:p>
        </p:txBody>
      </p:sp>
      <p:sp>
        <p:nvSpPr>
          <p:cNvPr id="82" name="Google Shape;82;p15"/>
          <p:cNvSpPr/>
          <p:nvPr/>
        </p:nvSpPr>
        <p:spPr>
          <a:xfrm>
            <a:off x="8931833" y="4269800"/>
            <a:ext cx="972400" cy="469600"/>
          </a:xfrm>
          <a:prstGeom prst="rect">
            <a:avLst/>
          </a:prstGeom>
          <a:solidFill>
            <a:srgbClr val="FCE5CD"/>
          </a:solidFill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" sz="1600"/>
              <a:t>History</a:t>
            </a:r>
            <a:endParaRPr sz="1600"/>
          </a:p>
        </p:txBody>
      </p:sp>
      <p:sp>
        <p:nvSpPr>
          <p:cNvPr id="83" name="Google Shape;83;p15"/>
          <p:cNvSpPr/>
          <p:nvPr/>
        </p:nvSpPr>
        <p:spPr>
          <a:xfrm>
            <a:off x="5696667" y="5778100"/>
            <a:ext cx="972400" cy="469600"/>
          </a:xfrm>
          <a:prstGeom prst="rect">
            <a:avLst/>
          </a:prstGeom>
          <a:solidFill>
            <a:srgbClr val="FCE5CD"/>
          </a:solidFill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" sz="1600"/>
              <a:t>Log in</a:t>
            </a:r>
            <a:endParaRPr sz="1600"/>
          </a:p>
        </p:txBody>
      </p:sp>
      <p:sp>
        <p:nvSpPr>
          <p:cNvPr id="84" name="Google Shape;84;p15"/>
          <p:cNvSpPr/>
          <p:nvPr/>
        </p:nvSpPr>
        <p:spPr>
          <a:xfrm>
            <a:off x="7359333" y="5778100"/>
            <a:ext cx="972400" cy="469600"/>
          </a:xfrm>
          <a:prstGeom prst="rect">
            <a:avLst/>
          </a:prstGeom>
          <a:solidFill>
            <a:srgbClr val="FCE5CD"/>
          </a:solidFill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" sz="1600"/>
              <a:t>Sign up</a:t>
            </a:r>
            <a:endParaRPr sz="1600"/>
          </a:p>
        </p:txBody>
      </p:sp>
      <p:sp>
        <p:nvSpPr>
          <p:cNvPr id="85" name="Google Shape;85;p15"/>
          <p:cNvSpPr/>
          <p:nvPr/>
        </p:nvSpPr>
        <p:spPr>
          <a:xfrm>
            <a:off x="8931833" y="4983100"/>
            <a:ext cx="972400" cy="469600"/>
          </a:xfrm>
          <a:prstGeom prst="rect">
            <a:avLst/>
          </a:prstGeom>
          <a:solidFill>
            <a:srgbClr val="FCE5CD"/>
          </a:solidFill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" sz="1600"/>
              <a:t>Edit</a:t>
            </a:r>
            <a:endParaRPr sz="1600"/>
          </a:p>
        </p:txBody>
      </p:sp>
      <p:cxnSp>
        <p:nvCxnSpPr>
          <p:cNvPr id="86" name="Google Shape;86;p15"/>
          <p:cNvCxnSpPr>
            <a:stCxn id="76" idx="3"/>
            <a:endCxn id="77" idx="1"/>
          </p:cNvCxnSpPr>
          <p:nvPr/>
        </p:nvCxnSpPr>
        <p:spPr>
          <a:xfrm>
            <a:off x="2267033" y="1990900"/>
            <a:ext cx="199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87" name="Google Shape;87;p15"/>
          <p:cNvCxnSpPr>
            <a:stCxn id="77" idx="3"/>
            <a:endCxn id="78" idx="1"/>
          </p:cNvCxnSpPr>
          <p:nvPr/>
        </p:nvCxnSpPr>
        <p:spPr>
          <a:xfrm>
            <a:off x="5804800" y="1990900"/>
            <a:ext cx="199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88" name="Google Shape;88;p15"/>
          <p:cNvCxnSpPr>
            <a:endCxn id="80" idx="1"/>
          </p:cNvCxnSpPr>
          <p:nvPr/>
        </p:nvCxnSpPr>
        <p:spPr>
          <a:xfrm rot="10800000" flipH="1">
            <a:off x="4718567" y="4602900"/>
            <a:ext cx="1261200" cy="30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triangle" w="med" len="med"/>
            <a:tailEnd type="none" w="med" len="med"/>
          </a:ln>
        </p:spPr>
      </p:cxnSp>
      <p:cxnSp>
        <p:nvCxnSpPr>
          <p:cNvPr id="89" name="Google Shape;89;p15"/>
          <p:cNvCxnSpPr>
            <a:endCxn id="80" idx="2"/>
          </p:cNvCxnSpPr>
          <p:nvPr/>
        </p:nvCxnSpPr>
        <p:spPr>
          <a:xfrm rot="10800000" flipH="1">
            <a:off x="6206167" y="4984700"/>
            <a:ext cx="682800" cy="782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90" name="Google Shape;90;p15"/>
          <p:cNvCxnSpPr>
            <a:endCxn id="84" idx="1"/>
          </p:cNvCxnSpPr>
          <p:nvPr/>
        </p:nvCxnSpPr>
        <p:spPr>
          <a:xfrm rot="10800000" flipH="1">
            <a:off x="6702133" y="6012900"/>
            <a:ext cx="657200" cy="9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91" name="Google Shape;91;p15"/>
          <p:cNvCxnSpPr>
            <a:endCxn id="80" idx="2"/>
          </p:cNvCxnSpPr>
          <p:nvPr/>
        </p:nvCxnSpPr>
        <p:spPr>
          <a:xfrm rot="10800000">
            <a:off x="6888967" y="4984700"/>
            <a:ext cx="975200" cy="796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92" name="Google Shape;92;p15"/>
          <p:cNvSpPr txBox="1"/>
          <p:nvPr/>
        </p:nvSpPr>
        <p:spPr>
          <a:xfrm>
            <a:off x="2455117" y="2139567"/>
            <a:ext cx="1617200" cy="4924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en" sz="1600">
                <a:solidFill>
                  <a:schemeClr val="dk2"/>
                </a:solidFill>
              </a:rPr>
              <a:t>Back to home</a:t>
            </a:r>
            <a:endParaRPr sz="1600">
              <a:solidFill>
                <a:schemeClr val="dk2"/>
              </a:solidFill>
            </a:endParaRPr>
          </a:p>
        </p:txBody>
      </p:sp>
      <p:sp>
        <p:nvSpPr>
          <p:cNvPr id="93" name="Google Shape;93;p15"/>
          <p:cNvSpPr txBox="1"/>
          <p:nvPr/>
        </p:nvSpPr>
        <p:spPr>
          <a:xfrm>
            <a:off x="6171282" y="2088000"/>
            <a:ext cx="1617200" cy="4924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en" sz="1600" dirty="0">
                <a:solidFill>
                  <a:schemeClr val="dk2"/>
                </a:solidFill>
              </a:rPr>
              <a:t>Back to Deals</a:t>
            </a:r>
            <a:endParaRPr sz="1600" dirty="0">
              <a:solidFill>
                <a:schemeClr val="dk2"/>
              </a:solidFill>
            </a:endParaRPr>
          </a:p>
        </p:txBody>
      </p:sp>
      <p:sp>
        <p:nvSpPr>
          <p:cNvPr id="94" name="Google Shape;94;p15"/>
          <p:cNvSpPr txBox="1"/>
          <p:nvPr/>
        </p:nvSpPr>
        <p:spPr>
          <a:xfrm>
            <a:off x="2455100" y="1349833"/>
            <a:ext cx="1617200" cy="4924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en" sz="1600">
                <a:solidFill>
                  <a:schemeClr val="dk2"/>
                </a:solidFill>
              </a:rPr>
              <a:t>Go to search</a:t>
            </a:r>
            <a:endParaRPr sz="1600">
              <a:solidFill>
                <a:schemeClr val="dk2"/>
              </a:solidFill>
            </a:endParaRPr>
          </a:p>
        </p:txBody>
      </p:sp>
      <p:sp>
        <p:nvSpPr>
          <p:cNvPr id="95" name="Google Shape;95;p15"/>
          <p:cNvSpPr txBox="1"/>
          <p:nvPr/>
        </p:nvSpPr>
        <p:spPr>
          <a:xfrm>
            <a:off x="6335400" y="1226633"/>
            <a:ext cx="1617200" cy="7386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en" sz="1600">
                <a:solidFill>
                  <a:schemeClr val="dk2"/>
                </a:solidFill>
              </a:rPr>
              <a:t>View one product</a:t>
            </a:r>
            <a:endParaRPr sz="1600">
              <a:solidFill>
                <a:schemeClr val="dk2"/>
              </a:solidFill>
            </a:endParaRPr>
          </a:p>
        </p:txBody>
      </p:sp>
      <p:sp>
        <p:nvSpPr>
          <p:cNvPr id="96" name="Google Shape;96;p15"/>
          <p:cNvSpPr/>
          <p:nvPr/>
        </p:nvSpPr>
        <p:spPr>
          <a:xfrm>
            <a:off x="4260400" y="2456633"/>
            <a:ext cx="1544400" cy="664800"/>
          </a:xfrm>
          <a:prstGeom prst="roundRect">
            <a:avLst>
              <a:gd name="adj" fmla="val 41615"/>
            </a:avLst>
          </a:prstGeom>
          <a:solidFill>
            <a:srgbClr val="CFE2F3"/>
          </a:solidFill>
          <a:ln w="9525" cap="flat" cmpd="sng">
            <a:solidFill>
              <a:schemeClr val="dk2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" sz="1467"/>
              <a:t>sort</a:t>
            </a:r>
            <a:endParaRPr sz="1467"/>
          </a:p>
        </p:txBody>
      </p:sp>
      <p:sp>
        <p:nvSpPr>
          <p:cNvPr id="97" name="Google Shape;97;p15"/>
          <p:cNvSpPr/>
          <p:nvPr/>
        </p:nvSpPr>
        <p:spPr>
          <a:xfrm>
            <a:off x="722667" y="2552733"/>
            <a:ext cx="1544400" cy="664800"/>
          </a:xfrm>
          <a:prstGeom prst="roundRect">
            <a:avLst>
              <a:gd name="adj" fmla="val 41615"/>
            </a:avLst>
          </a:prstGeom>
          <a:solidFill>
            <a:srgbClr val="CFE2F3"/>
          </a:solidFill>
          <a:ln w="9525" cap="flat" cmpd="sng">
            <a:solidFill>
              <a:schemeClr val="dk2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" sz="1467"/>
              <a:t>category</a:t>
            </a:r>
            <a:endParaRPr sz="1467"/>
          </a:p>
        </p:txBody>
      </p:sp>
      <p:sp>
        <p:nvSpPr>
          <p:cNvPr id="98" name="Google Shape;98;p15"/>
          <p:cNvSpPr/>
          <p:nvPr/>
        </p:nvSpPr>
        <p:spPr>
          <a:xfrm>
            <a:off x="722633" y="3289417"/>
            <a:ext cx="1544400" cy="664800"/>
          </a:xfrm>
          <a:prstGeom prst="roundRect">
            <a:avLst>
              <a:gd name="adj" fmla="val 41615"/>
            </a:avLst>
          </a:prstGeom>
          <a:solidFill>
            <a:srgbClr val="CFE2F3"/>
          </a:solidFill>
          <a:ln w="9525" cap="flat" cmpd="sng">
            <a:solidFill>
              <a:schemeClr val="dk2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" sz="1200" dirty="0"/>
              <a:t>recommendation</a:t>
            </a:r>
            <a:endParaRPr sz="1200" dirty="0"/>
          </a:p>
        </p:txBody>
      </p:sp>
      <p:sp>
        <p:nvSpPr>
          <p:cNvPr id="99" name="Google Shape;99;p15"/>
          <p:cNvSpPr txBox="1"/>
          <p:nvPr/>
        </p:nvSpPr>
        <p:spPr>
          <a:xfrm>
            <a:off x="1346100" y="4026101"/>
            <a:ext cx="1261200" cy="4924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en" sz="1600">
                <a:solidFill>
                  <a:schemeClr val="dk2"/>
                </a:solidFill>
              </a:rPr>
              <a:t>View List</a:t>
            </a:r>
            <a:endParaRPr sz="1600">
              <a:solidFill>
                <a:schemeClr val="dk2"/>
              </a:solidFill>
            </a:endParaRPr>
          </a:p>
        </p:txBody>
      </p:sp>
      <p:cxnSp>
        <p:nvCxnSpPr>
          <p:cNvPr id="100" name="Google Shape;100;p15"/>
          <p:cNvCxnSpPr>
            <a:stCxn id="79" idx="1"/>
            <a:endCxn id="76" idx="2"/>
          </p:cNvCxnSpPr>
          <p:nvPr/>
        </p:nvCxnSpPr>
        <p:spPr>
          <a:xfrm rot="10800000">
            <a:off x="1494967" y="2372900"/>
            <a:ext cx="1405200" cy="2230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triangle" w="med" len="med"/>
            <a:tailEnd type="none" w="med" len="med"/>
          </a:ln>
        </p:spPr>
      </p:cxnSp>
      <p:sp>
        <p:nvSpPr>
          <p:cNvPr id="101" name="Google Shape;101;p15"/>
          <p:cNvSpPr/>
          <p:nvPr/>
        </p:nvSpPr>
        <p:spPr>
          <a:xfrm rot="-5400000">
            <a:off x="9470333" y="1068900"/>
            <a:ext cx="2136800" cy="1844000"/>
          </a:xfrm>
          <a:prstGeom prst="snip2SameRect">
            <a:avLst>
              <a:gd name="adj1" fmla="val 39539"/>
              <a:gd name="adj2" fmla="val 0"/>
            </a:avLst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endParaRPr sz="2400"/>
          </a:p>
        </p:txBody>
      </p:sp>
      <p:sp>
        <p:nvSpPr>
          <p:cNvPr id="102" name="Google Shape;102;p15"/>
          <p:cNvSpPr/>
          <p:nvPr/>
        </p:nvSpPr>
        <p:spPr>
          <a:xfrm>
            <a:off x="10328500" y="1139500"/>
            <a:ext cx="1040400" cy="469600"/>
          </a:xfrm>
          <a:prstGeom prst="rect">
            <a:avLst/>
          </a:prstGeom>
          <a:solidFill>
            <a:srgbClr val="FCE5CD"/>
          </a:solidFill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" sz="1600"/>
              <a:t>Price chart</a:t>
            </a:r>
            <a:endParaRPr sz="1600"/>
          </a:p>
        </p:txBody>
      </p:sp>
      <p:sp>
        <p:nvSpPr>
          <p:cNvPr id="103" name="Google Shape;103;p15"/>
          <p:cNvSpPr/>
          <p:nvPr/>
        </p:nvSpPr>
        <p:spPr>
          <a:xfrm>
            <a:off x="10328500" y="2337000"/>
            <a:ext cx="1040400" cy="469600"/>
          </a:xfrm>
          <a:prstGeom prst="rect">
            <a:avLst/>
          </a:prstGeom>
          <a:solidFill>
            <a:srgbClr val="FCE5CD"/>
          </a:solidFill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" sz="1600"/>
              <a:t>Platform link</a:t>
            </a:r>
            <a:endParaRPr sz="1600"/>
          </a:p>
        </p:txBody>
      </p:sp>
      <p:sp>
        <p:nvSpPr>
          <p:cNvPr id="104" name="Google Shape;104;p15"/>
          <p:cNvSpPr/>
          <p:nvPr/>
        </p:nvSpPr>
        <p:spPr>
          <a:xfrm>
            <a:off x="4260400" y="3235133"/>
            <a:ext cx="1544400" cy="664800"/>
          </a:xfrm>
          <a:prstGeom prst="roundRect">
            <a:avLst>
              <a:gd name="adj" fmla="val 41615"/>
            </a:avLst>
          </a:prstGeom>
          <a:solidFill>
            <a:srgbClr val="CFE2F3"/>
          </a:solidFill>
          <a:ln w="9525" cap="flat" cmpd="sng">
            <a:solidFill>
              <a:schemeClr val="dk2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" sz="1467"/>
              <a:t>filter</a:t>
            </a:r>
            <a:endParaRPr sz="1467"/>
          </a:p>
        </p:txBody>
      </p:sp>
      <p:cxnSp>
        <p:nvCxnSpPr>
          <p:cNvPr id="105" name="Google Shape;105;p15"/>
          <p:cNvCxnSpPr>
            <a:stCxn id="79" idx="0"/>
            <a:endCxn id="77" idx="2"/>
          </p:cNvCxnSpPr>
          <p:nvPr/>
        </p:nvCxnSpPr>
        <p:spPr>
          <a:xfrm rot="10800000" flipH="1">
            <a:off x="3809367" y="2372700"/>
            <a:ext cx="1223200" cy="1848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triangle" w="med" len="med"/>
            <a:tailEnd type="none" w="med" len="med"/>
          </a:ln>
        </p:spPr>
      </p:cxnSp>
      <p:sp>
        <p:nvSpPr>
          <p:cNvPr id="106" name="Google Shape;106;p15"/>
          <p:cNvSpPr txBox="1"/>
          <p:nvPr/>
        </p:nvSpPr>
        <p:spPr>
          <a:xfrm>
            <a:off x="4739167" y="4518501"/>
            <a:ext cx="1220000" cy="4924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en" sz="1600">
                <a:solidFill>
                  <a:schemeClr val="dk2"/>
                </a:solidFill>
              </a:rPr>
              <a:t>View list</a:t>
            </a:r>
            <a:endParaRPr sz="1600">
              <a:solidFill>
                <a:schemeClr val="dk2"/>
              </a:solidFill>
            </a:endParaRPr>
          </a:p>
        </p:txBody>
      </p:sp>
      <p:sp>
        <p:nvSpPr>
          <p:cNvPr id="107" name="Google Shape;107;p15"/>
          <p:cNvSpPr txBox="1"/>
          <p:nvPr/>
        </p:nvSpPr>
        <p:spPr>
          <a:xfrm>
            <a:off x="3151999" y="3322418"/>
            <a:ext cx="1220000" cy="4924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en" sz="1600" dirty="0">
                <a:solidFill>
                  <a:schemeClr val="dk2"/>
                </a:solidFill>
              </a:rPr>
              <a:t>View list</a:t>
            </a:r>
            <a:endParaRPr sz="1600" dirty="0">
              <a:solidFill>
                <a:schemeClr val="dk2"/>
              </a:solidFill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D6D873A-2AA7-9C4A-C98E-ABEFA7AB24D7}"/>
              </a:ext>
            </a:extLst>
          </p:cNvPr>
          <p:cNvSpPr txBox="1"/>
          <p:nvPr/>
        </p:nvSpPr>
        <p:spPr>
          <a:xfrm>
            <a:off x="716089" y="397243"/>
            <a:ext cx="585888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/>
              <a:t>Navigate flow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图片 29"/>
          <p:cNvPicPr>
            <a:picLocks noChangeAspect="1"/>
          </p:cNvPicPr>
          <p:nvPr/>
        </p:nvPicPr>
        <p:blipFill rotWithShape="1">
          <a:blip r:embed="rId3" cstate="screen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7" name="文本框 26"/>
          <p:cNvSpPr txBox="1"/>
          <p:nvPr/>
        </p:nvSpPr>
        <p:spPr>
          <a:xfrm>
            <a:off x="716089" y="397243"/>
            <a:ext cx="32145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/>
              <a:t>Sensor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783402" y="1026909"/>
            <a:ext cx="8575751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Implemented with Android </a:t>
            </a:r>
            <a:r>
              <a:rPr lang="en-US" altLang="zh-CN" dirty="0" err="1"/>
              <a:t>RecognizerIntent</a:t>
            </a:r>
            <a:r>
              <a:rPr lang="en-US" altLang="zh-CN" dirty="0"/>
              <a:t> + </a:t>
            </a:r>
            <a:r>
              <a:rPr lang="en-US" altLang="zh-CN" dirty="0" err="1"/>
              <a:t>ActivityResultLauncher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Result stored in </a:t>
            </a:r>
            <a:r>
              <a:rPr lang="en-US" altLang="zh-CN" dirty="0" err="1"/>
              <a:t>HomeViewModel</a:t>
            </a:r>
            <a:r>
              <a:rPr lang="en-US" altLang="zh-CN" dirty="0"/>
              <a:t> (</a:t>
            </a:r>
            <a:r>
              <a:rPr lang="en-US" altLang="zh-CN" dirty="0" err="1"/>
              <a:t>applyVoiceResult</a:t>
            </a:r>
            <a:r>
              <a:rPr lang="en-US" altLang="zh-CN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Handles errors and crashes: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dirty="0"/>
              <a:t>Device without speech recognition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dirty="0"/>
              <a:t>Empty voice result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dirty="0"/>
              <a:t>Recognition canceled or failed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Testing / Debugging: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dirty="0"/>
              <a:t>Checked normal flow, empty input, cancel, and unsupported device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dirty="0"/>
              <a:t>Error messages displayed via </a:t>
            </a:r>
            <a:r>
              <a:rPr lang="en-US" altLang="zh-CN" dirty="0" err="1"/>
              <a:t>voiceError</a:t>
            </a:r>
            <a:r>
              <a:rPr lang="en-US" altLang="zh-CN" dirty="0"/>
              <a:t> </a:t>
            </a:r>
            <a:r>
              <a:rPr lang="en-US" altLang="zh-CN" dirty="0" err="1"/>
              <a:t>StateFlow</a:t>
            </a:r>
            <a:endParaRPr lang="en-US" altLang="zh-CN" dirty="0"/>
          </a:p>
          <a:p>
            <a:endParaRPr lang="en-US" altLang="zh-CN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54306" y="3774931"/>
            <a:ext cx="2971800" cy="258127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69816" y="3889231"/>
            <a:ext cx="2943225" cy="246697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图片 29"/>
          <p:cNvPicPr>
            <a:picLocks noChangeAspect="1"/>
          </p:cNvPicPr>
          <p:nvPr/>
        </p:nvPicPr>
        <p:blipFill rotWithShape="1">
          <a:blip r:embed="rId3" cstate="screen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7" name="文本框 26"/>
          <p:cNvSpPr txBox="1"/>
          <p:nvPr/>
        </p:nvSpPr>
        <p:spPr>
          <a:xfrm>
            <a:off x="953956" y="507042"/>
            <a:ext cx="32145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/>
              <a:t>API</a:t>
            </a:r>
          </a:p>
        </p:txBody>
      </p:sp>
      <p:sp>
        <p:nvSpPr>
          <p:cNvPr id="3" name="Google Shape;111;p16"/>
          <p:cNvSpPr/>
          <p:nvPr/>
        </p:nvSpPr>
        <p:spPr>
          <a:xfrm>
            <a:off x="1669856" y="1778869"/>
            <a:ext cx="2118000" cy="819300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 dirty="0"/>
              <a:t>User Management</a:t>
            </a:r>
            <a:endParaRPr sz="1700" dirty="0"/>
          </a:p>
        </p:txBody>
      </p:sp>
      <p:sp>
        <p:nvSpPr>
          <p:cNvPr id="4" name="Google Shape;112;p16"/>
          <p:cNvSpPr/>
          <p:nvPr/>
        </p:nvSpPr>
        <p:spPr>
          <a:xfrm>
            <a:off x="4337696" y="1778869"/>
            <a:ext cx="2118000" cy="819300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/>
              <a:t>Price &amp; history APIs</a:t>
            </a:r>
            <a:endParaRPr sz="1700"/>
          </a:p>
        </p:txBody>
      </p:sp>
      <p:sp>
        <p:nvSpPr>
          <p:cNvPr id="5" name="Google Shape;113;p16"/>
          <p:cNvSpPr/>
          <p:nvPr/>
        </p:nvSpPr>
        <p:spPr>
          <a:xfrm>
            <a:off x="7005536" y="1778869"/>
            <a:ext cx="2118000" cy="819300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/>
              <a:t>Product management</a:t>
            </a:r>
            <a:endParaRPr sz="1700"/>
          </a:p>
        </p:txBody>
      </p:sp>
      <p:sp>
        <p:nvSpPr>
          <p:cNvPr id="6" name="Google Shape;114;p16"/>
          <p:cNvSpPr/>
          <p:nvPr/>
        </p:nvSpPr>
        <p:spPr>
          <a:xfrm>
            <a:off x="1669856" y="3096807"/>
            <a:ext cx="2118000" cy="819300"/>
          </a:xfrm>
          <a:prstGeom prst="roundRect">
            <a:avLst>
              <a:gd name="adj" fmla="val 16667"/>
            </a:avLst>
          </a:prstGeom>
          <a:solidFill>
            <a:srgbClr val="D0E0E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/>
              <a:t>Wishlist APIs</a:t>
            </a:r>
            <a:endParaRPr sz="1700"/>
          </a:p>
        </p:txBody>
      </p:sp>
      <p:sp>
        <p:nvSpPr>
          <p:cNvPr id="7" name="Google Shape;115;p16"/>
          <p:cNvSpPr/>
          <p:nvPr/>
        </p:nvSpPr>
        <p:spPr>
          <a:xfrm>
            <a:off x="4337696" y="3096807"/>
            <a:ext cx="2118000" cy="819300"/>
          </a:xfrm>
          <a:prstGeom prst="roundRect">
            <a:avLst>
              <a:gd name="adj" fmla="val 16667"/>
            </a:avLst>
          </a:prstGeom>
          <a:solidFill>
            <a:srgbClr val="D0E0E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 dirty="0"/>
              <a:t>Admin / maintenance APIs</a:t>
            </a:r>
            <a:endParaRPr sz="1700" dirty="0"/>
          </a:p>
        </p:txBody>
      </p:sp>
      <p:sp>
        <p:nvSpPr>
          <p:cNvPr id="8" name="Google Shape;116;p16"/>
          <p:cNvSpPr/>
          <p:nvPr/>
        </p:nvSpPr>
        <p:spPr>
          <a:xfrm>
            <a:off x="1669856" y="4414745"/>
            <a:ext cx="2118000" cy="819300"/>
          </a:xfrm>
          <a:prstGeom prst="roundRect">
            <a:avLst>
              <a:gd name="adj" fmla="val 16667"/>
            </a:avLst>
          </a:prstGeom>
          <a:solidFill>
            <a:srgbClr val="EAD1D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/>
              <a:t>Scheduled job</a:t>
            </a:r>
            <a:endParaRPr sz="1700"/>
          </a:p>
        </p:txBody>
      </p:sp>
      <p:sp>
        <p:nvSpPr>
          <p:cNvPr id="9" name="Google Shape;117;p16"/>
          <p:cNvSpPr/>
          <p:nvPr/>
        </p:nvSpPr>
        <p:spPr>
          <a:xfrm>
            <a:off x="4337696" y="4414745"/>
            <a:ext cx="2118000" cy="819300"/>
          </a:xfrm>
          <a:prstGeom prst="roundRect">
            <a:avLst>
              <a:gd name="adj" fmla="val 16667"/>
            </a:avLst>
          </a:prstGeom>
          <a:solidFill>
            <a:srgbClr val="EAD1D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/>
              <a:t>System / test endpoints</a:t>
            </a:r>
            <a:endParaRPr sz="1700"/>
          </a:p>
        </p:txBody>
      </p:sp>
      <p:sp>
        <p:nvSpPr>
          <p:cNvPr id="10" name="Google Shape;118;p16"/>
          <p:cNvSpPr/>
          <p:nvPr/>
        </p:nvSpPr>
        <p:spPr>
          <a:xfrm>
            <a:off x="6620890" y="2954611"/>
            <a:ext cx="639683" cy="1476563"/>
          </a:xfrm>
          <a:prstGeom prst="leftBrace">
            <a:avLst>
              <a:gd name="adj1" fmla="val 30998"/>
              <a:gd name="adj2" fmla="val 45902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9;p16"/>
          <p:cNvSpPr/>
          <p:nvPr/>
        </p:nvSpPr>
        <p:spPr>
          <a:xfrm>
            <a:off x="7399638" y="2805992"/>
            <a:ext cx="2118000" cy="390900"/>
          </a:xfrm>
          <a:prstGeom prst="roundRect">
            <a:avLst>
              <a:gd name="adj" fmla="val 16667"/>
            </a:avLst>
          </a:prstGeom>
          <a:solidFill>
            <a:srgbClr val="D0E0E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/>
              <a:t>import-initial</a:t>
            </a:r>
            <a:endParaRPr sz="1600"/>
          </a:p>
        </p:txBody>
      </p:sp>
      <p:sp>
        <p:nvSpPr>
          <p:cNvPr id="12" name="Google Shape;120;p16"/>
          <p:cNvSpPr/>
          <p:nvPr/>
        </p:nvSpPr>
        <p:spPr>
          <a:xfrm>
            <a:off x="7399638" y="3497443"/>
            <a:ext cx="2118000" cy="390900"/>
          </a:xfrm>
          <a:prstGeom prst="roundRect">
            <a:avLst>
              <a:gd name="adj" fmla="val 16667"/>
            </a:avLst>
          </a:prstGeom>
          <a:solidFill>
            <a:srgbClr val="D0E0E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/>
              <a:t>update-all-prices</a:t>
            </a:r>
            <a:endParaRPr sz="1600"/>
          </a:p>
        </p:txBody>
      </p:sp>
      <p:sp>
        <p:nvSpPr>
          <p:cNvPr id="13" name="Google Shape;121;p16"/>
          <p:cNvSpPr/>
          <p:nvPr/>
        </p:nvSpPr>
        <p:spPr>
          <a:xfrm>
            <a:off x="7399638" y="4188894"/>
            <a:ext cx="2118000" cy="390900"/>
          </a:xfrm>
          <a:prstGeom prst="roundRect">
            <a:avLst>
              <a:gd name="adj" fmla="val 16667"/>
            </a:avLst>
          </a:prstGeom>
          <a:solidFill>
            <a:srgbClr val="D0E0E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dirty="0"/>
              <a:t>sync-lowest-prices</a:t>
            </a:r>
            <a:endParaRPr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图片 29"/>
          <p:cNvPicPr>
            <a:picLocks noChangeAspect="1"/>
          </p:cNvPicPr>
          <p:nvPr/>
        </p:nvPicPr>
        <p:blipFill rotWithShape="1">
          <a:blip r:embed="rId3" cstate="screen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7" name="文本框 26"/>
          <p:cNvSpPr txBox="1"/>
          <p:nvPr/>
        </p:nvSpPr>
        <p:spPr>
          <a:xfrm>
            <a:off x="716089" y="397243"/>
            <a:ext cx="99328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/>
              <a:t>Testing &amp; debugging</a:t>
            </a:r>
          </a:p>
        </p:txBody>
      </p:sp>
      <p:pic>
        <p:nvPicPr>
          <p:cNvPr id="3" name="Google Shape;158;p22"/>
          <p:cNvPicPr preferRelativeResize="0"/>
          <p:nvPr/>
        </p:nvPicPr>
        <p:blipFill>
          <a:blip r:embed="rId4"/>
          <a:stretch>
            <a:fillRect/>
          </a:stretch>
        </p:blipFill>
        <p:spPr>
          <a:xfrm>
            <a:off x="581951" y="2636371"/>
            <a:ext cx="11028098" cy="2505721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文本框 4"/>
          <p:cNvSpPr txBox="1"/>
          <p:nvPr/>
        </p:nvSpPr>
        <p:spPr>
          <a:xfrm>
            <a:off x="871909" y="1488043"/>
            <a:ext cx="98442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800" dirty="0">
                <a:solidFill>
                  <a:schemeClr val="dk2"/>
                </a:solidFill>
              </a:rPr>
              <a:t>I first added log statements in the code and inspected the backend server logs.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图片 29"/>
          <p:cNvPicPr>
            <a:picLocks noChangeAspect="1"/>
          </p:cNvPicPr>
          <p:nvPr/>
        </p:nvPicPr>
        <p:blipFill rotWithShape="1">
          <a:blip r:embed="rId3" cstate="screen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7" name="文本框 26"/>
          <p:cNvSpPr txBox="1"/>
          <p:nvPr/>
        </p:nvSpPr>
        <p:spPr>
          <a:xfrm>
            <a:off x="716089" y="397243"/>
            <a:ext cx="99328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/>
              <a:t>Testing &amp; debugging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6511193" y="1270533"/>
            <a:ext cx="5604029" cy="42462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800" dirty="0">
                <a:solidFill>
                  <a:schemeClr val="dk2"/>
                </a:solidFill>
              </a:rPr>
              <a:t>Then I used the </a:t>
            </a:r>
            <a:r>
              <a:rPr lang="en-US" altLang="zh-CN" sz="1800" dirty="0" err="1">
                <a:solidFill>
                  <a:schemeClr val="dk2"/>
                </a:solidFill>
              </a:rPr>
              <a:t>RapidAPI</a:t>
            </a:r>
            <a:r>
              <a:rPr lang="en-US" altLang="zh-CN" sz="1800" dirty="0">
                <a:solidFill>
                  <a:schemeClr val="dk2"/>
                </a:solidFill>
              </a:rPr>
              <a:t> console and Postman to manually test each endpoint to confirm that the backend was parsing and returning fields correctly.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dirty="0">
              <a:solidFill>
                <a:schemeClr val="dk2"/>
              </a:solidFill>
            </a:endParaRPr>
          </a:p>
          <a:p>
            <a:pPr>
              <a:lnSpc>
                <a:spcPct val="150000"/>
              </a:lnSpc>
            </a:pPr>
            <a:endParaRPr lang="en-US" altLang="zh-CN" sz="1800" dirty="0">
              <a:solidFill>
                <a:schemeClr val="dk2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CN" sz="1800" b="1" dirty="0">
                <a:solidFill>
                  <a:schemeClr val="dk2"/>
                </a:solidFill>
              </a:rPr>
              <a:t>Conclusion: 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altLang="zh-CN" sz="1800" dirty="0">
                <a:solidFill>
                  <a:schemeClr val="dk2"/>
                </a:solidFill>
              </a:rPr>
              <a:t>HTTP status code 429: API has reached the free request limit and the service stops responding; 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altLang="zh-CN" dirty="0">
                <a:solidFill>
                  <a:schemeClr val="dk2"/>
                </a:solidFill>
              </a:rPr>
              <a:t>Timeout error: T</a:t>
            </a:r>
            <a:r>
              <a:rPr lang="en-US" altLang="zh-CN" sz="1800" dirty="0">
                <a:solidFill>
                  <a:schemeClr val="dk2"/>
                </a:solidFill>
              </a:rPr>
              <a:t>he API is too slow, in which case we should consider removing the timeout limit.</a:t>
            </a:r>
          </a:p>
        </p:txBody>
      </p:sp>
      <p:pic>
        <p:nvPicPr>
          <p:cNvPr id="2" name="Google Shape;135;p18"/>
          <p:cNvPicPr preferRelativeResize="0"/>
          <p:nvPr/>
        </p:nvPicPr>
        <p:blipFill>
          <a:blip r:embed="rId4"/>
          <a:stretch>
            <a:fillRect/>
          </a:stretch>
        </p:blipFill>
        <p:spPr>
          <a:xfrm>
            <a:off x="410701" y="1442263"/>
            <a:ext cx="5604029" cy="35533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 rotWithShape="1">
          <a:blip r:embed="rId3" cstate="screen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52" name="Google Shape;152;p20" title="截屏2025-12-02 17.01.51.png"/>
          <p:cNvPicPr preferRelativeResize="0"/>
          <p:nvPr/>
        </p:nvPicPr>
        <p:blipFill>
          <a:blip r:embed="rId4"/>
          <a:stretch>
            <a:fillRect/>
          </a:stretch>
        </p:blipFill>
        <p:spPr>
          <a:xfrm>
            <a:off x="2318270" y="1552207"/>
            <a:ext cx="7555459" cy="4908550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20"/>
          <p:cNvSpPr txBox="1">
            <a:spLocks noGrp="1"/>
          </p:cNvSpPr>
          <p:nvPr>
            <p:ph type="body" idx="1"/>
          </p:nvPr>
        </p:nvSpPr>
        <p:spPr>
          <a:xfrm>
            <a:off x="790250" y="988449"/>
            <a:ext cx="4594550" cy="400117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marL="0" indent="0">
              <a:buNone/>
            </a:pPr>
            <a:r>
              <a:rPr lang="en-GB" sz="2000" dirty="0"/>
              <a:t>Database: AWS-aurora (MySQL)</a:t>
            </a:r>
            <a:endParaRPr sz="2000" dirty="0"/>
          </a:p>
        </p:txBody>
      </p:sp>
      <p:sp>
        <p:nvSpPr>
          <p:cNvPr id="3" name="文本框 2"/>
          <p:cNvSpPr txBox="1"/>
          <p:nvPr/>
        </p:nvSpPr>
        <p:spPr>
          <a:xfrm>
            <a:off x="716089" y="397243"/>
            <a:ext cx="32145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/>
              <a:t>Persistence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图片 29"/>
          <p:cNvPicPr>
            <a:picLocks noChangeAspect="1"/>
          </p:cNvPicPr>
          <p:nvPr/>
        </p:nvPicPr>
        <p:blipFill rotWithShape="1">
          <a:blip r:embed="rId3" cstate="screen">
            <a:alphaModFix amt="50000"/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658938" y="635896"/>
            <a:ext cx="87835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/>
              <a:t>Obstacles</a:t>
            </a:r>
            <a:endParaRPr lang="zh-CN" altLang="en-US" sz="2800" b="1" dirty="0"/>
          </a:p>
        </p:txBody>
      </p:sp>
      <p:sp>
        <p:nvSpPr>
          <p:cNvPr id="5" name="内容占位符 2"/>
          <p:cNvSpPr txBox="1"/>
          <p:nvPr/>
        </p:nvSpPr>
        <p:spPr>
          <a:xfrm>
            <a:off x="658938" y="1539956"/>
            <a:ext cx="11609262" cy="442053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lnSpc>
                <a:spcPct val="100000"/>
              </a:lnSpc>
              <a:spcAft>
                <a:spcPts val="1200"/>
              </a:spcAft>
              <a:buAutoNum type="arabicPeriod"/>
            </a:pPr>
            <a:r>
              <a:rPr lang="en-US" altLang="zh-CN" sz="2400" noProof="1"/>
              <a:t>Search logic</a:t>
            </a:r>
          </a:p>
          <a:p>
            <a:pPr lvl="1">
              <a:lnSpc>
                <a:spcPct val="100000"/>
              </a:lnSpc>
              <a:spcAft>
                <a:spcPts val="1200"/>
              </a:spcAft>
            </a:pPr>
            <a:r>
              <a:rPr lang="en-US" altLang="zh-CN" sz="2000" noProof="1"/>
              <a:t>search strategy: exact matching for ensure accuracy, or fuzzy matching for better user experience.</a:t>
            </a:r>
          </a:p>
          <a:p>
            <a:pPr lvl="1">
              <a:lnSpc>
                <a:spcPct val="100000"/>
              </a:lnSpc>
              <a:spcAft>
                <a:spcPts val="1200"/>
              </a:spcAft>
            </a:pPr>
            <a:r>
              <a:rPr lang="en-US" altLang="zh-CN" sz="2000" noProof="1"/>
              <a:t>search results: return all results at once, or support pagination and real-time filtering.</a:t>
            </a:r>
          </a:p>
          <a:p>
            <a:pPr marL="457200" indent="-457200">
              <a:lnSpc>
                <a:spcPct val="100000"/>
              </a:lnSpc>
              <a:spcAft>
                <a:spcPts val="1200"/>
              </a:spcAft>
              <a:buAutoNum type="arabicPeriod"/>
            </a:pPr>
            <a:r>
              <a:rPr lang="en-US" altLang="zh-CN" sz="2400" noProof="1"/>
              <a:t>specify same products between different platforms</a:t>
            </a:r>
          </a:p>
          <a:p>
            <a:pPr marL="457200" indent="-457200">
              <a:lnSpc>
                <a:spcPct val="100000"/>
              </a:lnSpc>
              <a:spcAft>
                <a:spcPts val="1200"/>
              </a:spcAft>
              <a:buAutoNum type="arabicPeriod"/>
            </a:pPr>
            <a:r>
              <a:rPr lang="en-US" altLang="zh-CN" sz="2400" noProof="1"/>
              <a:t>Api has quota</a:t>
            </a:r>
          </a:p>
          <a:p>
            <a:pPr marL="457200" indent="-457200">
              <a:lnSpc>
                <a:spcPct val="100000"/>
              </a:lnSpc>
              <a:spcAft>
                <a:spcPts val="1200"/>
              </a:spcAft>
              <a:buAutoNum type="arabicPeriod"/>
            </a:pPr>
            <a:r>
              <a:rPr lang="en-US" altLang="zh-CN" sz="2400" noProof="1"/>
              <a:t>Conflicts of our commits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图片 29"/>
          <p:cNvPicPr>
            <a:picLocks noChangeAspect="1"/>
          </p:cNvPicPr>
          <p:nvPr/>
        </p:nvPicPr>
        <p:blipFill rotWithShape="1">
          <a:blip r:embed="rId3" cstate="screen">
            <a:alphaModFix amt="50000"/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内容占位符 2"/>
          <p:cNvSpPr txBox="1"/>
          <p:nvPr/>
        </p:nvSpPr>
        <p:spPr>
          <a:xfrm>
            <a:off x="590940" y="297516"/>
            <a:ext cx="11279062" cy="6262968"/>
          </a:xfrm>
          <a:prstGeom prst="rect">
            <a:avLst/>
          </a:prstGeom>
        </p:spPr>
        <p:txBody>
          <a:bodyPr numCol="2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1200"/>
              </a:spcAft>
              <a:buNone/>
            </a:pPr>
            <a:r>
              <a:rPr lang="en-US" altLang="zh-CN" sz="2400" b="1" dirty="0">
                <a:latin typeface="+mn-ea"/>
              </a:rPr>
              <a:t>Progress we’ve made:</a:t>
            </a:r>
          </a:p>
          <a:p>
            <a:pPr>
              <a:lnSpc>
                <a:spcPct val="100000"/>
              </a:lnSpc>
              <a:spcAft>
                <a:spcPts val="1200"/>
              </a:spcAft>
            </a:pPr>
            <a:r>
              <a:rPr lang="en-US" altLang="zh-CN" sz="1600" noProof="1">
                <a:latin typeface="+mn-ea"/>
              </a:rPr>
              <a:t>Basic MVVM &amp; workflow: ✅</a:t>
            </a:r>
          </a:p>
          <a:p>
            <a:pPr>
              <a:lnSpc>
                <a:spcPct val="100000"/>
              </a:lnSpc>
              <a:spcAft>
                <a:spcPts val="1200"/>
              </a:spcAft>
            </a:pPr>
            <a:r>
              <a:rPr lang="en-US" altLang="zh-CN" sz="1600" noProof="1">
                <a:latin typeface="+mn-ea"/>
              </a:rPr>
              <a:t>Multi-platform price integration &amp; compare : ✅ More platforms will be added in future.</a:t>
            </a:r>
          </a:p>
          <a:p>
            <a:pPr>
              <a:lnSpc>
                <a:spcPct val="100000"/>
              </a:lnSpc>
              <a:spcAft>
                <a:spcPts val="1200"/>
              </a:spcAft>
            </a:pPr>
            <a:r>
              <a:rPr lang="en-US" altLang="zh-CN" sz="1600" noProof="1">
                <a:latin typeface="+mn-ea"/>
              </a:rPr>
              <a:t>Daily scheduled multi-platform update: ✅ Automatically sync the products table to the newest lowest prices every day.</a:t>
            </a:r>
          </a:p>
          <a:p>
            <a:pPr>
              <a:lnSpc>
                <a:spcPct val="100000"/>
              </a:lnSpc>
              <a:spcAft>
                <a:spcPts val="1200"/>
              </a:spcAft>
            </a:pPr>
            <a:r>
              <a:rPr lang="en-US" altLang="zh-CN" sz="1600" noProof="1">
                <a:latin typeface="+mn-ea"/>
              </a:rPr>
              <a:t>Smarter product modeling: ✅ (A new function to generate concise, user-friendly titles)</a:t>
            </a:r>
          </a:p>
          <a:p>
            <a:pPr>
              <a:lnSpc>
                <a:spcPct val="100000"/>
              </a:lnSpc>
              <a:spcAft>
                <a:spcPts val="1200"/>
              </a:spcAft>
            </a:pPr>
            <a:r>
              <a:rPr lang="en-US" altLang="zh-CN" sz="1600" noProof="1">
                <a:latin typeface="+mn-ea"/>
              </a:rPr>
              <a:t>Richer admin workflows</a:t>
            </a:r>
            <a:r>
              <a:rPr lang="en-US" altLang="zh-CN" sz="1600">
                <a:latin typeface="+mn-ea"/>
                <a:sym typeface="+mn-ea"/>
              </a:rPr>
              <a:t> ✅ </a:t>
            </a:r>
            <a:endParaRPr lang="en-US" altLang="zh-CN" sz="1600" noProof="1">
              <a:latin typeface="+mn-ea"/>
            </a:endParaRPr>
          </a:p>
          <a:p>
            <a:pPr>
              <a:lnSpc>
                <a:spcPct val="100000"/>
              </a:lnSpc>
              <a:spcAft>
                <a:spcPts val="1200"/>
              </a:spcAft>
            </a:pPr>
            <a:r>
              <a:rPr lang="en-US" altLang="zh-CN" sz="1600" noProof="1">
                <a:latin typeface="+mn-ea"/>
              </a:rPr>
              <a:t>Wishlist support for our app</a:t>
            </a:r>
            <a:r>
              <a:rPr lang="en-US" altLang="zh-CN" sz="1600">
                <a:latin typeface="+mn-ea"/>
                <a:sym typeface="+mn-ea"/>
              </a:rPr>
              <a:t> ✅ </a:t>
            </a:r>
            <a:endParaRPr lang="en-US" altLang="zh-CN" sz="1600" noProof="1">
              <a:latin typeface="+mn-ea"/>
            </a:endParaRPr>
          </a:p>
          <a:p>
            <a:pPr>
              <a:lnSpc>
                <a:spcPct val="100000"/>
              </a:lnSpc>
              <a:spcAft>
                <a:spcPts val="1200"/>
              </a:spcAft>
            </a:pPr>
            <a:r>
              <a:rPr lang="en-US" altLang="zh-CN" sz="1600" noProof="1">
                <a:latin typeface="+mn-ea"/>
              </a:rPr>
              <a:t>Sensor (microphone) : ✅</a:t>
            </a:r>
          </a:p>
          <a:p>
            <a:pPr>
              <a:lnSpc>
                <a:spcPct val="100000"/>
              </a:lnSpc>
              <a:spcAft>
                <a:spcPts val="1200"/>
              </a:spcAft>
            </a:pPr>
            <a:r>
              <a:rPr lang="en-US" altLang="zh-CN" sz="1600" noProof="1">
                <a:latin typeface="+mn-ea"/>
              </a:rPr>
              <a:t>Account management (register &amp; login): ✅</a:t>
            </a:r>
          </a:p>
          <a:p>
            <a:pPr>
              <a:lnSpc>
                <a:spcPct val="100000"/>
              </a:lnSpc>
              <a:spcAft>
                <a:spcPts val="1200"/>
              </a:spcAft>
            </a:pPr>
            <a:r>
              <a:rPr lang="en-US" altLang="zh-CN" sz="1600" noProof="1">
                <a:latin typeface="+mn-ea"/>
              </a:rPr>
              <a:t>Data persistence : ✅</a:t>
            </a:r>
          </a:p>
          <a:p>
            <a:pPr>
              <a:lnSpc>
                <a:spcPct val="100000"/>
              </a:lnSpc>
              <a:spcAft>
                <a:spcPts val="1200"/>
              </a:spcAft>
            </a:pPr>
            <a:r>
              <a:rPr lang="en-US" altLang="zh-CN" sz="1600" noProof="1">
                <a:latin typeface="+mn-ea"/>
              </a:rPr>
              <a:t>Product search &amp; price alert: In progress…</a:t>
            </a:r>
          </a:p>
          <a:p>
            <a:pPr>
              <a:lnSpc>
                <a:spcPct val="100000"/>
              </a:lnSpc>
              <a:spcAft>
                <a:spcPts val="1200"/>
              </a:spcAft>
            </a:pPr>
            <a:r>
              <a:rPr lang="en-US" altLang="zh-CN" sz="1600" noProof="1">
                <a:latin typeface="+mn-ea"/>
              </a:rPr>
              <a:t> AI recommendation : ❌</a:t>
            </a:r>
            <a:endParaRPr lang="en-US" altLang="zh-CN" sz="1800" noProof="1">
              <a:latin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182995" y="1496695"/>
            <a:ext cx="4557395" cy="16605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lnSpc>
                <a:spcPct val="100000"/>
              </a:lnSpc>
              <a:spcAft>
                <a:spcPts val="1200"/>
              </a:spcAft>
              <a:buNone/>
            </a:pPr>
            <a:r>
              <a:rPr lang="zh-CN" altLang="en-US" b="1" dirty="0">
                <a:latin typeface="+mn-ea"/>
                <a:sym typeface="+mn-ea"/>
              </a:rPr>
              <a:t>Stretch </a:t>
            </a:r>
            <a:r>
              <a:rPr lang="en-US" altLang="zh-CN" b="1" dirty="0">
                <a:latin typeface="+mn-ea"/>
                <a:sym typeface="+mn-ea"/>
              </a:rPr>
              <a:t>g</a:t>
            </a:r>
            <a:r>
              <a:rPr lang="zh-CN" altLang="en-US" b="1" dirty="0">
                <a:latin typeface="+mn-ea"/>
                <a:sym typeface="+mn-ea"/>
              </a:rPr>
              <a:t>oals </a:t>
            </a:r>
            <a:r>
              <a:rPr lang="en-US" altLang="zh-CN" b="1" dirty="0">
                <a:latin typeface="+mn-ea"/>
                <a:sym typeface="+mn-ea"/>
              </a:rPr>
              <a:t>adjustment</a:t>
            </a:r>
            <a:endParaRPr lang="en-US" altLang="zh-CN" b="1" dirty="0">
              <a:latin typeface="+mn-ea"/>
            </a:endParaRPr>
          </a:p>
          <a:p>
            <a:pPr>
              <a:lnSpc>
                <a:spcPct val="100000"/>
              </a:lnSpc>
              <a:spcAft>
                <a:spcPts val="1200"/>
              </a:spcAft>
            </a:pPr>
            <a:r>
              <a:rPr lang="zh-CN" altLang="en-US" dirty="0">
                <a:latin typeface="+mn-ea"/>
                <a:sym typeface="+mn-ea"/>
              </a:rPr>
              <a:t>Social Sharing: </a:t>
            </a:r>
            <a:r>
              <a:rPr lang="en-US" altLang="zh-CN" dirty="0">
                <a:latin typeface="+mn-ea"/>
                <a:sym typeface="+mn-ea"/>
              </a:rPr>
              <a:t>In progress…</a:t>
            </a:r>
            <a:endParaRPr lang="zh-CN" altLang="en-US" dirty="0">
              <a:latin typeface="+mn-ea"/>
            </a:endParaRPr>
          </a:p>
          <a:p>
            <a:pPr>
              <a:lnSpc>
                <a:spcPct val="100000"/>
              </a:lnSpc>
              <a:spcAft>
                <a:spcPts val="1200"/>
              </a:spcAft>
            </a:pPr>
            <a:r>
              <a:rPr lang="zh-CN" altLang="en-US" dirty="0">
                <a:latin typeface="+mn-ea"/>
                <a:sym typeface="+mn-ea"/>
              </a:rPr>
              <a:t>Smart Coupon Integration:</a:t>
            </a:r>
            <a:r>
              <a:rPr lang="en-US" altLang="zh-CN" dirty="0">
                <a:latin typeface="+mn-ea"/>
                <a:sym typeface="+mn-ea"/>
              </a:rPr>
              <a:t> ❌</a:t>
            </a:r>
            <a:endParaRPr lang="en-US" altLang="zh-CN" noProof="1">
              <a:latin typeface="+mn-ea"/>
            </a:endParaRPr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图片 29"/>
          <p:cNvPicPr>
            <a:picLocks noChangeAspect="1"/>
          </p:cNvPicPr>
          <p:nvPr/>
        </p:nvPicPr>
        <p:blipFill rotWithShape="1">
          <a:blip r:embed="rId2" cstate="screen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2177585" y="1647050"/>
            <a:ext cx="7836830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8800" b="1" dirty="0">
                <a:solidFill>
                  <a:schemeClr val="bg2">
                    <a:lumMod val="50000"/>
                  </a:schemeClr>
                </a:solidFill>
                <a:cs typeface="+mn-ea"/>
                <a:sym typeface="+mn-lt"/>
              </a:rPr>
              <a:t>Thanks for Listening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492</Words>
  <Application>Microsoft Office PowerPoint</Application>
  <PresentationFormat>宽屏</PresentationFormat>
  <Paragraphs>112</Paragraphs>
  <Slides>14</Slides>
  <Notes>13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18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Chen, Leyan</dc:creator>
  <cp:lastModifiedBy>Chen, Leyan</cp:lastModifiedBy>
  <cp:revision>202</cp:revision>
  <dcterms:created xsi:type="dcterms:W3CDTF">2025-11-11T11:09:00Z</dcterms:created>
  <dcterms:modified xsi:type="dcterms:W3CDTF">2025-12-02T23:42:42Z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FCB6D594838F4C8690834DD052D17845_13</vt:lpwstr>
  </property>
  <property fmtid="{D5CDD505-2E9C-101B-9397-08002B2CF9AE}" pid="3" name="KSOProductBuildVer">
    <vt:lpwstr>2052-12.1.0.23542</vt:lpwstr>
  </property>
</Properties>
</file>