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8" r:id="rId3"/>
    <p:sldId id="307" r:id="rId5"/>
    <p:sldId id="298" r:id="rId6"/>
    <p:sldId id="256" r:id="rId7"/>
    <p:sldId id="257" r:id="rId8"/>
    <p:sldId id="306" r:id="rId9"/>
    <p:sldId id="263" r:id="rId10"/>
    <p:sldId id="305" r:id="rId11"/>
    <p:sldId id="29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2" autoAdjust="0"/>
    <p:restoredTop sz="91319" autoAdjust="0"/>
  </p:normalViewPr>
  <p:slideViewPr>
    <p:cSldViewPr snapToGrid="0">
      <p:cViewPr varScale="1">
        <p:scale>
          <a:sx n="100" d="100"/>
          <a:sy n="100" d="100"/>
        </p:scale>
        <p:origin x="3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D110A-9CF1-4EF5-8068-64B4DE6CF4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39CB8-6A4D-410E-AE32-A931C305A9B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c9d22de0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c9d22de0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D2BDD-B491-4712-BE2C-E289FEB305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A1842-BEA8-4687-B965-B757CBD4444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buChloeCLY/CS501-Project-DealTracker" TargetMode="Externa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91771" y="3261489"/>
            <a:ext cx="9679459" cy="67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  <a:hlinkClick r:id="rId2"/>
              </a:rPr>
              <a:t>https://github.com/buChloeCLY/CS501-Project-DealTracker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000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77585" y="1678800"/>
            <a:ext cx="78368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 err="1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DealTracker</a:t>
            </a:r>
            <a:endParaRPr lang="en-US" altLang="zh-CN" sz="8800" b="1" dirty="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91735" y="5392919"/>
            <a:ext cx="5879496" cy="36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70000"/>
              </a:lnSpc>
            </a:pP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Team: Leyan Chen, </a:t>
            </a:r>
            <a:r>
              <a:rPr lang="en-US" altLang="zh-CN" sz="2400" b="1" dirty="0" err="1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Yijia</a:t>
            </a: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Chen, </a:t>
            </a:r>
            <a:r>
              <a:rPr lang="en-US" altLang="zh-CN" sz="2400" b="1" dirty="0" err="1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Juling</a:t>
            </a: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Fan</a:t>
            </a:r>
            <a:endParaRPr lang="en-US" altLang="zh-CN" sz="2400" b="1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6089" y="397243"/>
            <a:ext cx="5984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Problem Statement &amp; Solution </a:t>
            </a:r>
            <a:endParaRPr lang="en-US" altLang="zh-CN" sz="2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63117" y="1260348"/>
            <a:ext cx="922863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Problem:</a:t>
            </a: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Online price comparison is fragmented and time-consuming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Prices vary across platforms for the same product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Users often miss short-term discounts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Generic recommendations ignore personal interests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r>
              <a:rPr lang="en-US" altLang="zh-CN" sz="2000" b="1" dirty="0"/>
              <a:t>User Need:</a:t>
            </a: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A fast and centralized way to compare prices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Timely alerts for price drops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Relevant, personalized product discovery</a:t>
            </a:r>
            <a:endParaRPr lang="en-US" altLang="zh-CN" sz="2000" dirty="0"/>
          </a:p>
          <a:p>
            <a:endParaRPr lang="en-US" altLang="zh-CN" sz="2000" b="1" dirty="0"/>
          </a:p>
          <a:p>
            <a:r>
              <a:rPr lang="en-US" altLang="zh-CN" sz="2000" b="1" dirty="0"/>
              <a:t>Solution:</a:t>
            </a: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Unified search across multiple e-commerce platforms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Real-time price comparison powered by APIs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Price tracking with notifications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Personalized recommendations based on user behavior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6089" y="397243"/>
            <a:ext cx="3214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Live demo</a:t>
            </a:r>
            <a:endParaRPr lang="en-US" altLang="zh-CN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图片 5" descr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4" name="矩形 13"/>
          <p:cNvSpPr/>
          <p:nvPr/>
        </p:nvSpPr>
        <p:spPr>
          <a:xfrm>
            <a:off x="387350" y="920462"/>
            <a:ext cx="11220450" cy="574703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pic>
        <p:nvPicPr>
          <p:cNvPr id="105" name="图片 2" descr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00" y="1329005"/>
            <a:ext cx="5767442" cy="135123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06" name="图片 4" descr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01" y="3404474"/>
            <a:ext cx="4102966" cy="17536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7" name="文本框 6"/>
          <p:cNvSpPr txBox="1"/>
          <p:nvPr/>
        </p:nvSpPr>
        <p:spPr>
          <a:xfrm>
            <a:off x="514159" y="251352"/>
            <a:ext cx="5767442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800" b="1"/>
            </a:lvl1pPr>
          </a:lstStyle>
          <a:p>
            <a:r>
              <a:t>MVVM Architecture Diagram</a:t>
            </a:r>
          </a:p>
        </p:txBody>
      </p:sp>
      <p:pic>
        <p:nvPicPr>
          <p:cNvPr id="108" name="图片 12" descr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436" y="1157466"/>
            <a:ext cx="3396914" cy="272256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9" name="直接箭头连接符 16"/>
          <p:cNvSpPr/>
          <p:nvPr/>
        </p:nvSpPr>
        <p:spPr>
          <a:xfrm>
            <a:off x="1782126" y="2734549"/>
            <a:ext cx="1" cy="615612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/>
        </p:txBody>
      </p:sp>
      <p:sp>
        <p:nvSpPr>
          <p:cNvPr id="110" name="直接箭头连接符 19"/>
          <p:cNvSpPr/>
          <p:nvPr/>
        </p:nvSpPr>
        <p:spPr>
          <a:xfrm>
            <a:off x="3404050" y="5192589"/>
            <a:ext cx="2069785" cy="496121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/>
        </p:txBody>
      </p:sp>
      <p:sp>
        <p:nvSpPr>
          <p:cNvPr id="111" name="直接箭头连接符 19"/>
          <p:cNvSpPr/>
          <p:nvPr/>
        </p:nvSpPr>
        <p:spPr>
          <a:xfrm flipV="1">
            <a:off x="7760911" y="3887831"/>
            <a:ext cx="1026797" cy="417102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/>
        </p:txBody>
      </p:sp>
      <p:pic>
        <p:nvPicPr>
          <p:cNvPr id="112" name="截屏2025-12-15 20.48.35.png" descr="截屏2025-12-15 20.48.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0691" y="4083721"/>
            <a:ext cx="4516502" cy="272256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3" name="图片 2" descr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898" y="2299373"/>
            <a:ext cx="9643151" cy="225925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图片 4" descr="图片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71539" y="2287047"/>
            <a:ext cx="7051963" cy="301403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截屏2025-12-15 20.48.35.png" descr="截屏2025-12-15 20.48.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969" y="1896659"/>
            <a:ext cx="6779009" cy="40864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6" name="图片 12" descr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56" y="1388081"/>
            <a:ext cx="5754688" cy="461227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 advAuto="0"/>
      <p:bldP spid="113" grpId="1" animBg="1" advAuto="0"/>
      <p:bldP spid="114" grpId="0" animBg="1" advAuto="0"/>
      <p:bldP spid="114" grpId="1" animBg="1" advAuto="0"/>
      <p:bldP spid="115" grpId="0" animBg="1" advAuto="0"/>
      <p:bldP spid="115" grpId="1" animBg="1" advAuto="0"/>
      <p:bldP spid="116" grpId="0" animBg="1" advAuto="0"/>
      <p:bldP spid="116" grpId="1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图片 1" descr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Google Shape;72;p15"/>
          <p:cNvSpPr/>
          <p:nvPr/>
        </p:nvSpPr>
        <p:spPr>
          <a:xfrm>
            <a:off x="415600" y="1226632"/>
            <a:ext cx="1993201" cy="276320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solidFill>
              <a:srgbClr val="0E2841"/>
            </a:solidFill>
            <a:prstDash val="dot"/>
          </a:ln>
        </p:spPr>
        <p:txBody>
          <a:bodyPr lIns="45719" rIns="45719" anchor="ctr"/>
          <a:lstStyle/>
          <a:p>
            <a:pPr algn="ctr">
              <a:defRPr sz="2400"/>
            </a:pPr>
          </a:p>
        </p:txBody>
      </p:sp>
      <p:sp>
        <p:nvSpPr>
          <p:cNvPr id="120" name="Google Shape;73;p15"/>
          <p:cNvSpPr/>
          <p:nvPr/>
        </p:nvSpPr>
        <p:spPr>
          <a:xfrm>
            <a:off x="4036000" y="1226632"/>
            <a:ext cx="1993201" cy="276320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solidFill>
              <a:srgbClr val="0E2841"/>
            </a:solidFill>
            <a:prstDash val="dot"/>
          </a:ln>
        </p:spPr>
        <p:txBody>
          <a:bodyPr lIns="45719" rIns="45719" anchor="ctr"/>
          <a:lstStyle/>
          <a:p>
            <a:pPr algn="ctr">
              <a:defRPr sz="2400"/>
            </a:pPr>
          </a:p>
        </p:txBody>
      </p:sp>
      <p:sp>
        <p:nvSpPr>
          <p:cNvPr id="121" name="Google Shape;74;p15"/>
          <p:cNvSpPr/>
          <p:nvPr/>
        </p:nvSpPr>
        <p:spPr>
          <a:xfrm rot="16200000">
            <a:off x="8178200" y="3061799"/>
            <a:ext cx="2136801" cy="2885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3" y="0"/>
                </a:moveTo>
                <a:lnTo>
                  <a:pt x="15057" y="0"/>
                </a:lnTo>
                <a:lnTo>
                  <a:pt x="21600" y="4845"/>
                </a:lnTo>
                <a:lnTo>
                  <a:pt x="21600" y="21600"/>
                </a:lnTo>
                <a:lnTo>
                  <a:pt x="0" y="21600"/>
                </a:lnTo>
                <a:lnTo>
                  <a:pt x="0" y="4845"/>
                </a:lnTo>
                <a:close/>
              </a:path>
            </a:pathLst>
          </a:custGeom>
          <a:solidFill>
            <a:srgbClr val="D9EAD3"/>
          </a:solidFill>
          <a:ln>
            <a:solidFill>
              <a:srgbClr val="0E2841"/>
            </a:solidFill>
            <a:prstDash val="dot"/>
          </a:ln>
        </p:spPr>
        <p:txBody>
          <a:bodyPr lIns="45719" rIns="45719" anchor="ctr"/>
          <a:lstStyle/>
          <a:p>
            <a:pPr algn="ctr">
              <a:defRPr sz="2400"/>
            </a:pPr>
          </a:p>
        </p:txBody>
      </p:sp>
      <p:grpSp>
        <p:nvGrpSpPr>
          <p:cNvPr id="124" name="Google Shape;76;p15"/>
          <p:cNvGrpSpPr/>
          <p:nvPr/>
        </p:nvGrpSpPr>
        <p:grpSpPr>
          <a:xfrm>
            <a:off x="722633" y="1609100"/>
            <a:ext cx="1544401" cy="763601"/>
            <a:chOff x="0" y="0"/>
            <a:chExt cx="1544400" cy="763599"/>
          </a:xfrm>
        </p:grpSpPr>
        <p:sp>
          <p:nvSpPr>
            <p:cNvPr id="122" name="矩形"/>
            <p:cNvSpPr/>
            <p:nvPr/>
          </p:nvSpPr>
          <p:spPr>
            <a:xfrm>
              <a:off x="-1" y="0"/>
              <a:ext cx="1544402" cy="763600"/>
            </a:xfrm>
            <a:prstGeom prst="rect">
              <a:avLst/>
            </a:prstGeom>
            <a:solidFill>
              <a:srgbClr val="E8E8E8"/>
            </a:solidFill>
            <a:ln w="9525" cap="flat">
              <a:solidFill>
                <a:srgbClr val="0E284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23" name="HomeScreen"/>
            <p:cNvSpPr txBox="1"/>
            <p:nvPr/>
          </p:nvSpPr>
          <p:spPr>
            <a:xfrm>
              <a:off x="4762" y="139250"/>
              <a:ext cx="1534876" cy="4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600"/>
              </a:lvl1pPr>
            </a:lstStyle>
            <a:p>
              <a:r>
                <a:t>HomeScreen</a:t>
              </a:r>
            </a:p>
          </p:txBody>
        </p:sp>
      </p:grpSp>
      <p:grpSp>
        <p:nvGrpSpPr>
          <p:cNvPr id="127" name="Google Shape;77;p15"/>
          <p:cNvGrpSpPr/>
          <p:nvPr/>
        </p:nvGrpSpPr>
        <p:grpSpPr>
          <a:xfrm>
            <a:off x="4260400" y="1609100"/>
            <a:ext cx="1544401" cy="763601"/>
            <a:chOff x="0" y="0"/>
            <a:chExt cx="1544400" cy="763599"/>
          </a:xfrm>
        </p:grpSpPr>
        <p:sp>
          <p:nvSpPr>
            <p:cNvPr id="125" name="矩形"/>
            <p:cNvSpPr/>
            <p:nvPr/>
          </p:nvSpPr>
          <p:spPr>
            <a:xfrm>
              <a:off x="-1" y="0"/>
              <a:ext cx="1544402" cy="763600"/>
            </a:xfrm>
            <a:prstGeom prst="rect">
              <a:avLst/>
            </a:prstGeom>
            <a:solidFill>
              <a:srgbClr val="E8E8E8"/>
            </a:solidFill>
            <a:ln w="9525" cap="flat">
              <a:solidFill>
                <a:srgbClr val="0E284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26" name="DealScreen"/>
            <p:cNvSpPr txBox="1"/>
            <p:nvPr/>
          </p:nvSpPr>
          <p:spPr>
            <a:xfrm>
              <a:off x="4762" y="139250"/>
              <a:ext cx="1534876" cy="4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600"/>
              </a:lvl1pPr>
            </a:lstStyle>
            <a:p>
              <a:r>
                <a:t>DealScreen</a:t>
              </a:r>
            </a:p>
          </p:txBody>
        </p:sp>
      </p:grpSp>
      <p:grpSp>
        <p:nvGrpSpPr>
          <p:cNvPr id="130" name="Google Shape;78;p15"/>
          <p:cNvGrpSpPr/>
          <p:nvPr/>
        </p:nvGrpSpPr>
        <p:grpSpPr>
          <a:xfrm>
            <a:off x="7798166" y="1609100"/>
            <a:ext cx="1818401" cy="763601"/>
            <a:chOff x="0" y="0"/>
            <a:chExt cx="1818400" cy="763599"/>
          </a:xfrm>
        </p:grpSpPr>
        <p:sp>
          <p:nvSpPr>
            <p:cNvPr id="128" name="矩形"/>
            <p:cNvSpPr/>
            <p:nvPr/>
          </p:nvSpPr>
          <p:spPr>
            <a:xfrm>
              <a:off x="-1" y="0"/>
              <a:ext cx="1818402" cy="763600"/>
            </a:xfrm>
            <a:prstGeom prst="rect">
              <a:avLst/>
            </a:prstGeom>
            <a:solidFill>
              <a:srgbClr val="E8E8E8"/>
            </a:solidFill>
            <a:ln w="9525" cap="flat">
              <a:solidFill>
                <a:srgbClr val="0E284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29" name="ProductScreen"/>
            <p:cNvSpPr txBox="1"/>
            <p:nvPr/>
          </p:nvSpPr>
          <p:spPr>
            <a:xfrm>
              <a:off x="4762" y="139250"/>
              <a:ext cx="1808876" cy="4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600"/>
              </a:lvl1pPr>
            </a:lstStyle>
            <a:p>
              <a:r>
                <a:t>ProductScreen</a:t>
              </a:r>
            </a:p>
          </p:txBody>
        </p:sp>
      </p:grpSp>
      <p:grpSp>
        <p:nvGrpSpPr>
          <p:cNvPr id="133" name="Google Shape;79;p15"/>
          <p:cNvGrpSpPr/>
          <p:nvPr/>
        </p:nvGrpSpPr>
        <p:grpSpPr>
          <a:xfrm>
            <a:off x="2900166" y="4221100"/>
            <a:ext cx="1818401" cy="763601"/>
            <a:chOff x="0" y="0"/>
            <a:chExt cx="1818400" cy="763599"/>
          </a:xfrm>
        </p:grpSpPr>
        <p:sp>
          <p:nvSpPr>
            <p:cNvPr id="131" name="矩形"/>
            <p:cNvSpPr/>
            <p:nvPr/>
          </p:nvSpPr>
          <p:spPr>
            <a:xfrm>
              <a:off x="-1" y="0"/>
              <a:ext cx="1818402" cy="763600"/>
            </a:xfrm>
            <a:prstGeom prst="rect">
              <a:avLst/>
            </a:prstGeom>
            <a:solidFill>
              <a:srgbClr val="E8E8E8"/>
            </a:solidFill>
            <a:ln w="9525" cap="flat">
              <a:solidFill>
                <a:srgbClr val="0E284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32" name="WishlistScreen"/>
            <p:cNvSpPr txBox="1"/>
            <p:nvPr/>
          </p:nvSpPr>
          <p:spPr>
            <a:xfrm>
              <a:off x="4762" y="139250"/>
              <a:ext cx="1808876" cy="4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600"/>
              </a:lvl1pPr>
            </a:lstStyle>
            <a:p>
              <a:r>
                <a:t>WishlistScreen</a:t>
              </a:r>
            </a:p>
          </p:txBody>
        </p:sp>
      </p:grpSp>
      <p:grpSp>
        <p:nvGrpSpPr>
          <p:cNvPr id="136" name="Google Shape;80;p15"/>
          <p:cNvGrpSpPr/>
          <p:nvPr/>
        </p:nvGrpSpPr>
        <p:grpSpPr>
          <a:xfrm>
            <a:off x="5979767" y="4221100"/>
            <a:ext cx="1818401" cy="763601"/>
            <a:chOff x="0" y="0"/>
            <a:chExt cx="1818400" cy="763599"/>
          </a:xfrm>
        </p:grpSpPr>
        <p:sp>
          <p:nvSpPr>
            <p:cNvPr id="134" name="矩形"/>
            <p:cNvSpPr/>
            <p:nvPr/>
          </p:nvSpPr>
          <p:spPr>
            <a:xfrm>
              <a:off x="-1" y="0"/>
              <a:ext cx="1818402" cy="763600"/>
            </a:xfrm>
            <a:prstGeom prst="rect">
              <a:avLst/>
            </a:prstGeom>
            <a:solidFill>
              <a:srgbClr val="E8E8E8"/>
            </a:solidFill>
            <a:ln w="9525" cap="flat">
              <a:solidFill>
                <a:srgbClr val="0E284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35" name="ProfileScreen"/>
            <p:cNvSpPr txBox="1"/>
            <p:nvPr/>
          </p:nvSpPr>
          <p:spPr>
            <a:xfrm>
              <a:off x="4762" y="139250"/>
              <a:ext cx="1808876" cy="4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600"/>
              </a:lvl1pPr>
            </a:lstStyle>
            <a:p>
              <a:r>
                <a:t>ProfileScreen</a:t>
              </a:r>
            </a:p>
          </p:txBody>
        </p:sp>
      </p:grpSp>
      <p:grpSp>
        <p:nvGrpSpPr>
          <p:cNvPr id="139" name="Google Shape;81;p15"/>
          <p:cNvGrpSpPr/>
          <p:nvPr/>
        </p:nvGrpSpPr>
        <p:grpSpPr>
          <a:xfrm>
            <a:off x="8931833" y="3548750"/>
            <a:ext cx="972401" cy="485101"/>
            <a:chOff x="0" y="0"/>
            <a:chExt cx="972400" cy="485099"/>
          </a:xfrm>
        </p:grpSpPr>
        <p:sp>
          <p:nvSpPr>
            <p:cNvPr id="137" name="矩形"/>
            <p:cNvSpPr/>
            <p:nvPr/>
          </p:nvSpPr>
          <p:spPr>
            <a:xfrm>
              <a:off x="0" y="7749"/>
              <a:ext cx="972401" cy="469602"/>
            </a:xfrm>
            <a:prstGeom prst="rect">
              <a:avLst/>
            </a:prstGeom>
            <a:solidFill>
              <a:srgbClr val="FCE5CD"/>
            </a:solidFill>
            <a:ln w="9525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38" name="Setting"/>
            <p:cNvSpPr txBox="1"/>
            <p:nvPr/>
          </p:nvSpPr>
          <p:spPr>
            <a:xfrm>
              <a:off x="4762" y="-1"/>
              <a:ext cx="962876" cy="48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600"/>
              </a:lvl1pPr>
            </a:lstStyle>
            <a:p>
              <a:r>
                <a:t>Setting</a:t>
              </a:r>
            </a:p>
          </p:txBody>
        </p:sp>
      </p:grpSp>
      <p:grpSp>
        <p:nvGrpSpPr>
          <p:cNvPr id="142" name="Google Shape;82;p15"/>
          <p:cNvGrpSpPr/>
          <p:nvPr/>
        </p:nvGrpSpPr>
        <p:grpSpPr>
          <a:xfrm>
            <a:off x="8931833" y="4262049"/>
            <a:ext cx="972401" cy="485101"/>
            <a:chOff x="0" y="0"/>
            <a:chExt cx="972400" cy="485099"/>
          </a:xfrm>
        </p:grpSpPr>
        <p:sp>
          <p:nvSpPr>
            <p:cNvPr id="140" name="矩形"/>
            <p:cNvSpPr/>
            <p:nvPr/>
          </p:nvSpPr>
          <p:spPr>
            <a:xfrm>
              <a:off x="0" y="7749"/>
              <a:ext cx="972401" cy="469602"/>
            </a:xfrm>
            <a:prstGeom prst="rect">
              <a:avLst/>
            </a:prstGeom>
            <a:solidFill>
              <a:srgbClr val="FCE5CD"/>
            </a:solidFill>
            <a:ln w="9525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41" name="History"/>
            <p:cNvSpPr txBox="1"/>
            <p:nvPr/>
          </p:nvSpPr>
          <p:spPr>
            <a:xfrm>
              <a:off x="4762" y="-1"/>
              <a:ext cx="962876" cy="48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600"/>
              </a:lvl1pPr>
            </a:lstStyle>
            <a:p>
              <a:r>
                <a:t>History</a:t>
              </a:r>
            </a:p>
          </p:txBody>
        </p:sp>
      </p:grpSp>
      <p:grpSp>
        <p:nvGrpSpPr>
          <p:cNvPr id="145" name="Google Shape;83;p15"/>
          <p:cNvGrpSpPr/>
          <p:nvPr/>
        </p:nvGrpSpPr>
        <p:grpSpPr>
          <a:xfrm>
            <a:off x="5696667" y="5770350"/>
            <a:ext cx="972401" cy="485101"/>
            <a:chOff x="0" y="0"/>
            <a:chExt cx="972400" cy="485099"/>
          </a:xfrm>
        </p:grpSpPr>
        <p:sp>
          <p:nvSpPr>
            <p:cNvPr id="143" name="矩形"/>
            <p:cNvSpPr/>
            <p:nvPr/>
          </p:nvSpPr>
          <p:spPr>
            <a:xfrm>
              <a:off x="0" y="7749"/>
              <a:ext cx="972401" cy="469602"/>
            </a:xfrm>
            <a:prstGeom prst="rect">
              <a:avLst/>
            </a:prstGeom>
            <a:solidFill>
              <a:srgbClr val="FCE5CD"/>
            </a:solidFill>
            <a:ln w="9525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44" name="Log in"/>
            <p:cNvSpPr txBox="1"/>
            <p:nvPr/>
          </p:nvSpPr>
          <p:spPr>
            <a:xfrm>
              <a:off x="4762" y="-1"/>
              <a:ext cx="962876" cy="48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600"/>
              </a:lvl1pPr>
            </a:lstStyle>
            <a:p>
              <a:r>
                <a:t>Log in</a:t>
              </a:r>
            </a:p>
          </p:txBody>
        </p:sp>
      </p:grpSp>
      <p:grpSp>
        <p:nvGrpSpPr>
          <p:cNvPr id="148" name="Google Shape;84;p15"/>
          <p:cNvGrpSpPr/>
          <p:nvPr/>
        </p:nvGrpSpPr>
        <p:grpSpPr>
          <a:xfrm>
            <a:off x="7359332" y="5770350"/>
            <a:ext cx="972402" cy="485101"/>
            <a:chOff x="0" y="0"/>
            <a:chExt cx="972400" cy="485099"/>
          </a:xfrm>
        </p:grpSpPr>
        <p:sp>
          <p:nvSpPr>
            <p:cNvPr id="146" name="矩形"/>
            <p:cNvSpPr/>
            <p:nvPr/>
          </p:nvSpPr>
          <p:spPr>
            <a:xfrm>
              <a:off x="0" y="7749"/>
              <a:ext cx="972401" cy="469602"/>
            </a:xfrm>
            <a:prstGeom prst="rect">
              <a:avLst/>
            </a:prstGeom>
            <a:solidFill>
              <a:srgbClr val="FCE5CD"/>
            </a:solidFill>
            <a:ln w="9525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47" name="Sign up"/>
            <p:cNvSpPr txBox="1"/>
            <p:nvPr/>
          </p:nvSpPr>
          <p:spPr>
            <a:xfrm>
              <a:off x="4762" y="-1"/>
              <a:ext cx="962876" cy="48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600"/>
              </a:lvl1pPr>
            </a:lstStyle>
            <a:p>
              <a:r>
                <a:t>Sign up</a:t>
              </a:r>
            </a:p>
          </p:txBody>
        </p:sp>
      </p:grpSp>
      <p:grpSp>
        <p:nvGrpSpPr>
          <p:cNvPr id="151" name="Google Shape;85;p15"/>
          <p:cNvGrpSpPr/>
          <p:nvPr/>
        </p:nvGrpSpPr>
        <p:grpSpPr>
          <a:xfrm>
            <a:off x="8931833" y="4975350"/>
            <a:ext cx="972401" cy="485101"/>
            <a:chOff x="0" y="0"/>
            <a:chExt cx="972400" cy="485099"/>
          </a:xfrm>
        </p:grpSpPr>
        <p:sp>
          <p:nvSpPr>
            <p:cNvPr id="149" name="矩形"/>
            <p:cNvSpPr/>
            <p:nvPr/>
          </p:nvSpPr>
          <p:spPr>
            <a:xfrm>
              <a:off x="0" y="7749"/>
              <a:ext cx="972401" cy="469602"/>
            </a:xfrm>
            <a:prstGeom prst="rect">
              <a:avLst/>
            </a:prstGeom>
            <a:solidFill>
              <a:srgbClr val="FCE5CD"/>
            </a:solidFill>
            <a:ln w="9525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50" name="Edit"/>
            <p:cNvSpPr txBox="1"/>
            <p:nvPr/>
          </p:nvSpPr>
          <p:spPr>
            <a:xfrm>
              <a:off x="4762" y="-1"/>
              <a:ext cx="962876" cy="48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600"/>
              </a:lvl1pPr>
            </a:lstStyle>
            <a:p>
              <a:r>
                <a:t>Edit</a:t>
              </a:r>
            </a:p>
          </p:txBody>
        </p:sp>
      </p:grpSp>
      <p:sp>
        <p:nvSpPr>
          <p:cNvPr id="192" name="Google Shape;86;p15"/>
          <p:cNvSpPr/>
          <p:nvPr/>
        </p:nvSpPr>
        <p:spPr>
          <a:xfrm>
            <a:off x="2271636" y="1990900"/>
            <a:ext cx="1984002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0"/>
                  <a:pt x="14400" y="0"/>
                  <a:pt x="21600" y="21600"/>
                </a:cubicBezTo>
              </a:path>
            </a:pathLst>
          </a:custGeom>
          <a:ln>
            <a:solidFill>
              <a:srgbClr val="0E2841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193" name="Google Shape;87;p15"/>
          <p:cNvSpPr/>
          <p:nvPr/>
        </p:nvSpPr>
        <p:spPr>
          <a:xfrm>
            <a:off x="5809403" y="1990900"/>
            <a:ext cx="1984002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4400" extrusionOk="0">
                <a:moveTo>
                  <a:pt x="0" y="14400"/>
                </a:moveTo>
                <a:cubicBezTo>
                  <a:pt x="7200" y="0"/>
                  <a:pt x="14400" y="-7200"/>
                  <a:pt x="21600" y="0"/>
                </a:cubicBezTo>
              </a:path>
            </a:pathLst>
          </a:custGeom>
          <a:ln>
            <a:solidFill>
              <a:srgbClr val="0E2841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154" name="Google Shape;88;p15"/>
          <p:cNvSpPr/>
          <p:nvPr/>
        </p:nvSpPr>
        <p:spPr>
          <a:xfrm flipV="1">
            <a:off x="4718567" y="4602899"/>
            <a:ext cx="1261201" cy="30401"/>
          </a:xfrm>
          <a:prstGeom prst="line">
            <a:avLst/>
          </a:prstGeom>
          <a:ln>
            <a:solidFill>
              <a:srgbClr val="0E2841"/>
            </a:solidFill>
            <a:headEnd type="triangle"/>
          </a:ln>
        </p:spPr>
        <p:txBody>
          <a:bodyPr lIns="45719" rIns="45719"/>
          <a:lstStyle/>
          <a:p/>
        </p:txBody>
      </p:sp>
      <p:sp>
        <p:nvSpPr>
          <p:cNvPr id="155" name="Google Shape;89;p15"/>
          <p:cNvSpPr/>
          <p:nvPr/>
        </p:nvSpPr>
        <p:spPr>
          <a:xfrm flipV="1">
            <a:off x="6206166" y="4984700"/>
            <a:ext cx="682801" cy="782401"/>
          </a:xfrm>
          <a:prstGeom prst="line">
            <a:avLst/>
          </a:prstGeom>
          <a:ln>
            <a:solidFill>
              <a:srgbClr val="0E2841"/>
            </a:solidFill>
            <a:tailEnd type="triangle"/>
          </a:ln>
        </p:spPr>
        <p:txBody>
          <a:bodyPr lIns="45719" rIns="45719"/>
          <a:lstStyle/>
          <a:p/>
        </p:txBody>
      </p:sp>
      <p:sp>
        <p:nvSpPr>
          <p:cNvPr id="156" name="Google Shape;90;p15"/>
          <p:cNvSpPr/>
          <p:nvPr/>
        </p:nvSpPr>
        <p:spPr>
          <a:xfrm flipV="1">
            <a:off x="6702132" y="6012900"/>
            <a:ext cx="657201" cy="9201"/>
          </a:xfrm>
          <a:prstGeom prst="line">
            <a:avLst/>
          </a:prstGeom>
          <a:ln>
            <a:solidFill>
              <a:srgbClr val="0E2841"/>
            </a:solidFill>
            <a:tailEnd type="triangle"/>
          </a:ln>
        </p:spPr>
        <p:txBody>
          <a:bodyPr lIns="45719" rIns="45719"/>
          <a:lstStyle/>
          <a:p/>
        </p:txBody>
      </p:sp>
      <p:sp>
        <p:nvSpPr>
          <p:cNvPr id="157" name="Google Shape;91;p15"/>
          <p:cNvSpPr/>
          <p:nvPr/>
        </p:nvSpPr>
        <p:spPr>
          <a:xfrm flipH="1" flipV="1">
            <a:off x="6888967" y="4984700"/>
            <a:ext cx="975201" cy="796401"/>
          </a:xfrm>
          <a:prstGeom prst="line">
            <a:avLst/>
          </a:prstGeom>
          <a:ln>
            <a:solidFill>
              <a:srgbClr val="0E2841"/>
            </a:solidFill>
            <a:tailEnd type="triangle"/>
          </a:ln>
        </p:spPr>
        <p:txBody>
          <a:bodyPr lIns="45719" rIns="45719"/>
          <a:lstStyle/>
          <a:p/>
        </p:txBody>
      </p:sp>
      <p:sp>
        <p:nvSpPr>
          <p:cNvPr id="158" name="Google Shape;92;p15"/>
          <p:cNvSpPr txBox="1"/>
          <p:nvPr/>
        </p:nvSpPr>
        <p:spPr>
          <a:xfrm>
            <a:off x="2455117" y="2139567"/>
            <a:ext cx="1617201" cy="485101"/>
          </a:xfrm>
          <a:prstGeom prst="rect">
            <a:avLst/>
          </a:prstGeom>
          <a:ln w="12700">
            <a:miter lim="400000"/>
          </a:ln>
        </p:spPr>
        <p:txBody>
          <a:bodyPr lIns="121899" tIns="121899" rIns="121899" bIns="121899">
            <a:spAutoFit/>
          </a:bodyPr>
          <a:lstStyle>
            <a:lvl1pPr>
              <a:defRPr sz="1600">
                <a:solidFill>
                  <a:srgbClr val="0E2841"/>
                </a:solidFill>
              </a:defRPr>
            </a:lvl1pPr>
          </a:lstStyle>
          <a:p>
            <a:r>
              <a:t>Back to home</a:t>
            </a:r>
          </a:p>
        </p:txBody>
      </p:sp>
      <p:sp>
        <p:nvSpPr>
          <p:cNvPr id="159" name="Google Shape;93;p15"/>
          <p:cNvSpPr txBox="1"/>
          <p:nvPr/>
        </p:nvSpPr>
        <p:spPr>
          <a:xfrm>
            <a:off x="6171281" y="2088000"/>
            <a:ext cx="1617201" cy="485101"/>
          </a:xfrm>
          <a:prstGeom prst="rect">
            <a:avLst/>
          </a:prstGeom>
          <a:ln w="12700">
            <a:miter lim="400000"/>
          </a:ln>
        </p:spPr>
        <p:txBody>
          <a:bodyPr lIns="121899" tIns="121899" rIns="121899" bIns="121899">
            <a:spAutoFit/>
          </a:bodyPr>
          <a:lstStyle>
            <a:lvl1pPr>
              <a:defRPr sz="1600">
                <a:solidFill>
                  <a:srgbClr val="0E2841"/>
                </a:solidFill>
              </a:defRPr>
            </a:lvl1pPr>
          </a:lstStyle>
          <a:p>
            <a:r>
              <a:t>Back to Deals</a:t>
            </a:r>
          </a:p>
        </p:txBody>
      </p:sp>
      <p:sp>
        <p:nvSpPr>
          <p:cNvPr id="160" name="Google Shape;94;p15"/>
          <p:cNvSpPr txBox="1"/>
          <p:nvPr/>
        </p:nvSpPr>
        <p:spPr>
          <a:xfrm>
            <a:off x="2455099" y="1349833"/>
            <a:ext cx="1617201" cy="485101"/>
          </a:xfrm>
          <a:prstGeom prst="rect">
            <a:avLst/>
          </a:prstGeom>
          <a:ln w="12700">
            <a:miter lim="400000"/>
          </a:ln>
        </p:spPr>
        <p:txBody>
          <a:bodyPr lIns="121899" tIns="121899" rIns="121899" bIns="121899">
            <a:spAutoFit/>
          </a:bodyPr>
          <a:lstStyle>
            <a:lvl1pPr>
              <a:defRPr sz="1600">
                <a:solidFill>
                  <a:srgbClr val="0E2841"/>
                </a:solidFill>
              </a:defRPr>
            </a:lvl1pPr>
          </a:lstStyle>
          <a:p>
            <a:r>
              <a:t>Go to search</a:t>
            </a:r>
          </a:p>
        </p:txBody>
      </p:sp>
      <p:sp>
        <p:nvSpPr>
          <p:cNvPr id="161" name="Google Shape;95;p15"/>
          <p:cNvSpPr txBox="1"/>
          <p:nvPr/>
        </p:nvSpPr>
        <p:spPr>
          <a:xfrm>
            <a:off x="6335400" y="1226632"/>
            <a:ext cx="1617201" cy="726401"/>
          </a:xfrm>
          <a:prstGeom prst="rect">
            <a:avLst/>
          </a:prstGeom>
          <a:ln w="12700">
            <a:miter lim="400000"/>
          </a:ln>
        </p:spPr>
        <p:txBody>
          <a:bodyPr lIns="121899" tIns="121899" rIns="121899" bIns="121899">
            <a:spAutoFit/>
          </a:bodyPr>
          <a:lstStyle>
            <a:lvl1pPr>
              <a:defRPr sz="1600">
                <a:solidFill>
                  <a:srgbClr val="0E2841"/>
                </a:solidFill>
              </a:defRPr>
            </a:lvl1pPr>
          </a:lstStyle>
          <a:p>
            <a:r>
              <a:t>View one product</a:t>
            </a:r>
          </a:p>
        </p:txBody>
      </p:sp>
      <p:grpSp>
        <p:nvGrpSpPr>
          <p:cNvPr id="164" name="Google Shape;96;p15"/>
          <p:cNvGrpSpPr/>
          <p:nvPr/>
        </p:nvGrpSpPr>
        <p:grpSpPr>
          <a:xfrm>
            <a:off x="4260400" y="2456632"/>
            <a:ext cx="1544401" cy="664802"/>
            <a:chOff x="0" y="0"/>
            <a:chExt cx="1544400" cy="664800"/>
          </a:xfrm>
        </p:grpSpPr>
        <p:sp>
          <p:nvSpPr>
            <p:cNvPr id="162" name="圆角矩形"/>
            <p:cNvSpPr/>
            <p:nvPr/>
          </p:nvSpPr>
          <p:spPr>
            <a:xfrm>
              <a:off x="0" y="0"/>
              <a:ext cx="1544401" cy="664801"/>
            </a:xfrm>
            <a:prstGeom prst="roundRect">
              <a:avLst>
                <a:gd name="adj" fmla="val 41615"/>
              </a:avLst>
            </a:prstGeom>
            <a:solidFill>
              <a:srgbClr val="CFE2F3"/>
            </a:solidFill>
            <a:ln w="9525" cap="flat">
              <a:solidFill>
                <a:srgbClr val="0E2841"/>
              </a:solidFill>
              <a:prstDash val="dot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163" name="sort"/>
            <p:cNvSpPr txBox="1"/>
            <p:nvPr/>
          </p:nvSpPr>
          <p:spPr>
            <a:xfrm>
              <a:off x="85792" y="102550"/>
              <a:ext cx="1372816" cy="45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400"/>
              </a:lvl1pPr>
            </a:lstStyle>
            <a:p>
              <a:r>
                <a:t>sort</a:t>
              </a:r>
            </a:p>
          </p:txBody>
        </p:sp>
      </p:grpSp>
      <p:grpSp>
        <p:nvGrpSpPr>
          <p:cNvPr id="167" name="Google Shape;97;p15"/>
          <p:cNvGrpSpPr/>
          <p:nvPr/>
        </p:nvGrpSpPr>
        <p:grpSpPr>
          <a:xfrm>
            <a:off x="722666" y="2552732"/>
            <a:ext cx="1544401" cy="664801"/>
            <a:chOff x="0" y="0"/>
            <a:chExt cx="1544400" cy="664800"/>
          </a:xfrm>
        </p:grpSpPr>
        <p:sp>
          <p:nvSpPr>
            <p:cNvPr id="165" name="圆角矩形"/>
            <p:cNvSpPr/>
            <p:nvPr/>
          </p:nvSpPr>
          <p:spPr>
            <a:xfrm>
              <a:off x="0" y="0"/>
              <a:ext cx="1544401" cy="664801"/>
            </a:xfrm>
            <a:prstGeom prst="roundRect">
              <a:avLst>
                <a:gd name="adj" fmla="val 41615"/>
              </a:avLst>
            </a:prstGeom>
            <a:solidFill>
              <a:srgbClr val="CFE2F3"/>
            </a:solidFill>
            <a:ln w="9525" cap="flat">
              <a:solidFill>
                <a:srgbClr val="0E2841"/>
              </a:solidFill>
              <a:prstDash val="dot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166" name="category"/>
            <p:cNvSpPr txBox="1"/>
            <p:nvPr/>
          </p:nvSpPr>
          <p:spPr>
            <a:xfrm>
              <a:off x="85792" y="102550"/>
              <a:ext cx="1372816" cy="45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400"/>
              </a:lvl1pPr>
            </a:lstStyle>
            <a:p>
              <a:r>
                <a:t>category</a:t>
              </a:r>
            </a:p>
          </p:txBody>
        </p:sp>
      </p:grpSp>
      <p:grpSp>
        <p:nvGrpSpPr>
          <p:cNvPr id="170" name="Google Shape;98;p15"/>
          <p:cNvGrpSpPr/>
          <p:nvPr/>
        </p:nvGrpSpPr>
        <p:grpSpPr>
          <a:xfrm>
            <a:off x="722633" y="3289417"/>
            <a:ext cx="1544401" cy="664801"/>
            <a:chOff x="0" y="0"/>
            <a:chExt cx="1544400" cy="664800"/>
          </a:xfrm>
        </p:grpSpPr>
        <p:sp>
          <p:nvSpPr>
            <p:cNvPr id="168" name="圆角矩形"/>
            <p:cNvSpPr/>
            <p:nvPr/>
          </p:nvSpPr>
          <p:spPr>
            <a:xfrm>
              <a:off x="0" y="0"/>
              <a:ext cx="1544401" cy="664801"/>
            </a:xfrm>
            <a:prstGeom prst="roundRect">
              <a:avLst>
                <a:gd name="adj" fmla="val 41615"/>
              </a:avLst>
            </a:prstGeom>
            <a:solidFill>
              <a:srgbClr val="CFE2F3"/>
            </a:solidFill>
            <a:ln w="9525" cap="flat">
              <a:solidFill>
                <a:srgbClr val="0E2841"/>
              </a:solidFill>
              <a:prstDash val="dot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</a:p>
          </p:txBody>
        </p:sp>
        <p:sp>
          <p:nvSpPr>
            <p:cNvPr id="169" name="recommendation"/>
            <p:cNvSpPr txBox="1"/>
            <p:nvPr/>
          </p:nvSpPr>
          <p:spPr>
            <a:xfrm>
              <a:off x="85792" y="32700"/>
              <a:ext cx="1372816" cy="59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200"/>
              </a:lvl1pPr>
            </a:lstStyle>
            <a:p>
              <a:r>
                <a:t>recommendation</a:t>
              </a:r>
            </a:p>
          </p:txBody>
        </p:sp>
      </p:grpSp>
      <p:sp>
        <p:nvSpPr>
          <p:cNvPr id="171" name="Google Shape;99;p15"/>
          <p:cNvSpPr txBox="1"/>
          <p:nvPr/>
        </p:nvSpPr>
        <p:spPr>
          <a:xfrm>
            <a:off x="1346100" y="4026101"/>
            <a:ext cx="1261200" cy="485101"/>
          </a:xfrm>
          <a:prstGeom prst="rect">
            <a:avLst/>
          </a:prstGeom>
          <a:ln w="12700">
            <a:miter lim="400000"/>
          </a:ln>
        </p:spPr>
        <p:txBody>
          <a:bodyPr lIns="121899" tIns="121899" rIns="121899" bIns="121899">
            <a:spAutoFit/>
          </a:bodyPr>
          <a:lstStyle>
            <a:lvl1pPr>
              <a:defRPr sz="1600">
                <a:solidFill>
                  <a:srgbClr val="0E2841"/>
                </a:solidFill>
              </a:defRPr>
            </a:lvl1pPr>
          </a:lstStyle>
          <a:p>
            <a:r>
              <a:t>View List</a:t>
            </a:r>
          </a:p>
        </p:txBody>
      </p:sp>
      <p:sp>
        <p:nvSpPr>
          <p:cNvPr id="194" name="Google Shape;100;p15"/>
          <p:cNvSpPr/>
          <p:nvPr/>
        </p:nvSpPr>
        <p:spPr>
          <a:xfrm>
            <a:off x="1837360" y="2377450"/>
            <a:ext cx="1629468" cy="1838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>
            <a:solidFill>
              <a:srgbClr val="0E2841"/>
            </a:solidFill>
            <a:headEnd type="triangle"/>
          </a:ln>
        </p:spPr>
        <p:txBody>
          <a:bodyPr/>
          <a:lstStyle/>
          <a:p/>
        </p:txBody>
      </p:sp>
      <p:sp>
        <p:nvSpPr>
          <p:cNvPr id="173" name="Google Shape;101;p15"/>
          <p:cNvSpPr/>
          <p:nvPr/>
        </p:nvSpPr>
        <p:spPr>
          <a:xfrm rot="16200000">
            <a:off x="9470332" y="1068899"/>
            <a:ext cx="2136801" cy="18440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70" y="0"/>
                </a:moveTo>
                <a:lnTo>
                  <a:pt x="14230" y="0"/>
                </a:lnTo>
                <a:lnTo>
                  <a:pt x="21600" y="8540"/>
                </a:lnTo>
                <a:lnTo>
                  <a:pt x="21600" y="21600"/>
                </a:lnTo>
                <a:lnTo>
                  <a:pt x="0" y="21600"/>
                </a:lnTo>
                <a:lnTo>
                  <a:pt x="0" y="8540"/>
                </a:lnTo>
                <a:close/>
              </a:path>
            </a:pathLst>
          </a:custGeom>
          <a:solidFill>
            <a:srgbClr val="D9EAD3"/>
          </a:solidFill>
          <a:ln>
            <a:solidFill>
              <a:srgbClr val="0E2841"/>
            </a:solidFill>
            <a:prstDash val="dot"/>
          </a:ln>
        </p:spPr>
        <p:txBody>
          <a:bodyPr lIns="45719" rIns="45719" anchor="ctr"/>
          <a:lstStyle/>
          <a:p>
            <a:pPr algn="ctr">
              <a:defRPr sz="2400"/>
            </a:pPr>
          </a:p>
        </p:txBody>
      </p:sp>
      <p:grpSp>
        <p:nvGrpSpPr>
          <p:cNvPr id="176" name="Google Shape;102;p15"/>
          <p:cNvGrpSpPr/>
          <p:nvPr/>
        </p:nvGrpSpPr>
        <p:grpSpPr>
          <a:xfrm>
            <a:off x="10328499" y="1011100"/>
            <a:ext cx="1040400" cy="726401"/>
            <a:chOff x="0" y="0"/>
            <a:chExt cx="1040398" cy="726399"/>
          </a:xfrm>
        </p:grpSpPr>
        <p:sp>
          <p:nvSpPr>
            <p:cNvPr id="174" name="矩形"/>
            <p:cNvSpPr/>
            <p:nvPr/>
          </p:nvSpPr>
          <p:spPr>
            <a:xfrm>
              <a:off x="0" y="128399"/>
              <a:ext cx="1040399" cy="469602"/>
            </a:xfrm>
            <a:prstGeom prst="rect">
              <a:avLst/>
            </a:prstGeom>
            <a:solidFill>
              <a:srgbClr val="FCE5CD"/>
            </a:solidFill>
            <a:ln w="9525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75" name="Price chart"/>
            <p:cNvSpPr txBox="1"/>
            <p:nvPr/>
          </p:nvSpPr>
          <p:spPr>
            <a:xfrm>
              <a:off x="4762" y="0"/>
              <a:ext cx="1030875" cy="726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600"/>
              </a:lvl1pPr>
            </a:lstStyle>
            <a:p>
              <a:r>
                <a:t>Price chart</a:t>
              </a:r>
            </a:p>
          </p:txBody>
        </p:sp>
      </p:grpSp>
      <p:grpSp>
        <p:nvGrpSpPr>
          <p:cNvPr id="179" name="Google Shape;103;p15"/>
          <p:cNvGrpSpPr/>
          <p:nvPr/>
        </p:nvGrpSpPr>
        <p:grpSpPr>
          <a:xfrm>
            <a:off x="10328499" y="2208600"/>
            <a:ext cx="1040400" cy="726401"/>
            <a:chOff x="0" y="0"/>
            <a:chExt cx="1040398" cy="726399"/>
          </a:xfrm>
        </p:grpSpPr>
        <p:sp>
          <p:nvSpPr>
            <p:cNvPr id="177" name="矩形"/>
            <p:cNvSpPr/>
            <p:nvPr/>
          </p:nvSpPr>
          <p:spPr>
            <a:xfrm>
              <a:off x="0" y="128399"/>
              <a:ext cx="1040399" cy="469602"/>
            </a:xfrm>
            <a:prstGeom prst="rect">
              <a:avLst/>
            </a:prstGeom>
            <a:solidFill>
              <a:srgbClr val="FCE5CD"/>
            </a:solidFill>
            <a:ln w="9525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78" name="Platform link"/>
            <p:cNvSpPr txBox="1"/>
            <p:nvPr/>
          </p:nvSpPr>
          <p:spPr>
            <a:xfrm>
              <a:off x="4762" y="0"/>
              <a:ext cx="1030875" cy="726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600"/>
              </a:lvl1pPr>
            </a:lstStyle>
            <a:p>
              <a:r>
                <a:t>Platform link</a:t>
              </a:r>
            </a:p>
          </p:txBody>
        </p:sp>
      </p:grpSp>
      <p:grpSp>
        <p:nvGrpSpPr>
          <p:cNvPr id="182" name="Google Shape;104;p15"/>
          <p:cNvGrpSpPr/>
          <p:nvPr/>
        </p:nvGrpSpPr>
        <p:grpSpPr>
          <a:xfrm>
            <a:off x="4260400" y="3235132"/>
            <a:ext cx="1544401" cy="664801"/>
            <a:chOff x="0" y="0"/>
            <a:chExt cx="1544400" cy="664800"/>
          </a:xfrm>
        </p:grpSpPr>
        <p:sp>
          <p:nvSpPr>
            <p:cNvPr id="180" name="圆角矩形"/>
            <p:cNvSpPr/>
            <p:nvPr/>
          </p:nvSpPr>
          <p:spPr>
            <a:xfrm>
              <a:off x="0" y="0"/>
              <a:ext cx="1544401" cy="664801"/>
            </a:xfrm>
            <a:prstGeom prst="roundRect">
              <a:avLst>
                <a:gd name="adj" fmla="val 41615"/>
              </a:avLst>
            </a:prstGeom>
            <a:solidFill>
              <a:srgbClr val="CFE2F3"/>
            </a:solidFill>
            <a:ln w="9525" cap="flat">
              <a:solidFill>
                <a:srgbClr val="0E2841"/>
              </a:solidFill>
              <a:prstDash val="dot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181" name="filter"/>
            <p:cNvSpPr txBox="1"/>
            <p:nvPr/>
          </p:nvSpPr>
          <p:spPr>
            <a:xfrm>
              <a:off x="85792" y="102550"/>
              <a:ext cx="1372816" cy="45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21899" tIns="121899" rIns="121899" bIns="121899" numCol="1" anchor="ctr">
              <a:spAutoFit/>
            </a:bodyPr>
            <a:lstStyle>
              <a:lvl1pPr algn="ctr">
                <a:defRPr sz="1400"/>
              </a:lvl1pPr>
            </a:lstStyle>
            <a:p>
              <a:r>
                <a:t>filter</a:t>
              </a:r>
            </a:p>
          </p:txBody>
        </p:sp>
      </p:grpSp>
      <p:sp>
        <p:nvSpPr>
          <p:cNvPr id="195" name="Google Shape;105;p15"/>
          <p:cNvSpPr/>
          <p:nvPr/>
        </p:nvSpPr>
        <p:spPr>
          <a:xfrm>
            <a:off x="3990399" y="2377450"/>
            <a:ext cx="861175" cy="1838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>
            <a:solidFill>
              <a:srgbClr val="0E2841"/>
            </a:solidFill>
            <a:headEnd type="triangle"/>
          </a:ln>
        </p:spPr>
        <p:txBody>
          <a:bodyPr/>
          <a:lstStyle/>
          <a:p/>
        </p:txBody>
      </p:sp>
      <p:sp>
        <p:nvSpPr>
          <p:cNvPr id="184" name="Google Shape;106;p15"/>
          <p:cNvSpPr txBox="1"/>
          <p:nvPr/>
        </p:nvSpPr>
        <p:spPr>
          <a:xfrm>
            <a:off x="4739166" y="4518500"/>
            <a:ext cx="1220001" cy="485101"/>
          </a:xfrm>
          <a:prstGeom prst="rect">
            <a:avLst/>
          </a:prstGeom>
          <a:ln w="12700">
            <a:miter lim="400000"/>
          </a:ln>
        </p:spPr>
        <p:txBody>
          <a:bodyPr lIns="121899" tIns="121899" rIns="121899" bIns="121899">
            <a:spAutoFit/>
          </a:bodyPr>
          <a:lstStyle>
            <a:lvl1pPr>
              <a:defRPr sz="1600">
                <a:solidFill>
                  <a:srgbClr val="0E2841"/>
                </a:solidFill>
              </a:defRPr>
            </a:lvl1pPr>
          </a:lstStyle>
          <a:p>
            <a:r>
              <a:t>View list</a:t>
            </a:r>
          </a:p>
        </p:txBody>
      </p:sp>
      <p:sp>
        <p:nvSpPr>
          <p:cNvPr id="185" name="Google Shape;107;p15"/>
          <p:cNvSpPr txBox="1"/>
          <p:nvPr/>
        </p:nvSpPr>
        <p:spPr>
          <a:xfrm>
            <a:off x="3151999" y="3322418"/>
            <a:ext cx="1220001" cy="485101"/>
          </a:xfrm>
          <a:prstGeom prst="rect">
            <a:avLst/>
          </a:prstGeom>
          <a:ln w="12700">
            <a:miter lim="400000"/>
          </a:ln>
        </p:spPr>
        <p:txBody>
          <a:bodyPr lIns="121899" tIns="121899" rIns="121899" bIns="121899">
            <a:spAutoFit/>
          </a:bodyPr>
          <a:lstStyle>
            <a:lvl1pPr>
              <a:defRPr sz="1600">
                <a:solidFill>
                  <a:srgbClr val="0E2841"/>
                </a:solidFill>
              </a:defRPr>
            </a:lvl1pPr>
          </a:lstStyle>
          <a:p>
            <a:r>
              <a:t>View list</a:t>
            </a:r>
          </a:p>
        </p:txBody>
      </p:sp>
      <p:sp>
        <p:nvSpPr>
          <p:cNvPr id="186" name="文本框 2"/>
          <p:cNvSpPr txBox="1"/>
          <p:nvPr/>
        </p:nvSpPr>
        <p:spPr>
          <a:xfrm>
            <a:off x="761809" y="397243"/>
            <a:ext cx="5767442" cy="5232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800" b="1"/>
            </a:lvl1pPr>
          </a:lstStyle>
          <a:p>
            <a:r>
              <a:t>Navigate flow</a:t>
            </a:r>
          </a:p>
        </p:txBody>
      </p:sp>
      <p:pic>
        <p:nvPicPr>
          <p:cNvPr id="187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45" y="552554"/>
            <a:ext cx="2999284" cy="57528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8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888" y="484130"/>
            <a:ext cx="2706029" cy="57528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9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637" y="460180"/>
            <a:ext cx="2895126" cy="59376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0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166" y="878370"/>
            <a:ext cx="2505548" cy="542707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1" name="图像" descr="图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953" y="944084"/>
            <a:ext cx="2568687" cy="542707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 animBg="1" advAuto="0"/>
      <p:bldP spid="187" grpId="1" animBg="1" advAuto="0"/>
      <p:bldP spid="188" grpId="0" animBg="1" advAuto="0"/>
      <p:bldP spid="188" grpId="1" animBg="1" advAuto="0"/>
      <p:bldP spid="189" grpId="0" animBg="1" advAuto="0"/>
      <p:bldP spid="189" grpId="1" animBg="1" advAuto="0"/>
      <p:bldP spid="190" grpId="0" animBg="1" advAuto="0"/>
      <p:bldP spid="190" grpId="1" animBg="1" advAuto="0"/>
      <p:bldP spid="191" grpId="0" animBg="1" advAuto="0"/>
      <p:bldP spid="191" grpId="1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6089" y="397243"/>
            <a:ext cx="9932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Challenges &amp; Lessons Learned </a:t>
            </a:r>
            <a:endParaRPr lang="en-US" altLang="zh-CN" sz="2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593725" y="1351915"/>
            <a:ext cx="1028001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1. Handling consistent search navigation when the same screen can be reached from multiple entry points.                                             </a:t>
            </a:r>
            <a:r>
              <a:rPr lang="en-US" altLang="zh-CN" sz="2400" b="1">
                <a:solidFill>
                  <a:schemeClr val="accent6"/>
                </a:solidFill>
                <a:sym typeface="+mn-ea"/>
              </a:rPr>
              <a:t>--Solved</a:t>
            </a:r>
            <a:endParaRPr lang="en-US" altLang="zh-CN" sz="2400"/>
          </a:p>
          <a:p>
            <a:r>
              <a:rPr lang="en-US" altLang="zh-CN" sz="2400"/>
              <a:t>2. Deep Link Testing Challenges (sharing implementation)          </a:t>
            </a:r>
            <a:r>
              <a:rPr lang="en-US" altLang="zh-CN" sz="2400" b="1">
                <a:solidFill>
                  <a:schemeClr val="accent6"/>
                </a:solidFill>
                <a:sym typeface="+mn-ea"/>
              </a:rPr>
              <a:t>--Solved</a:t>
            </a:r>
            <a:endParaRPr lang="en-US" altLang="zh-CN" sz="2400"/>
          </a:p>
          <a:p>
            <a:r>
              <a:rPr lang="en-US" altLang="zh-CN" sz="2400"/>
              <a:t>3. API Trade-off: Used RapidAPI for lower costs, despite occasional data instability.                                                                                     </a:t>
            </a:r>
            <a:r>
              <a:rPr lang="en-US" altLang="zh-CN" sz="2400" b="1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--Unsolved</a:t>
            </a:r>
            <a:endParaRPr lang="en-US" altLang="zh-CN" sz="2400" b="1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  <a:p>
            <a:endParaRPr lang="en-US" altLang="zh-CN" sz="2400">
              <a:solidFill>
                <a:schemeClr val="tx1"/>
              </a:solidFill>
              <a:sym typeface="+mn-ea"/>
            </a:endParaRPr>
          </a:p>
          <a:p>
            <a:r>
              <a:rPr lang="en-US" altLang="zh-CN" sz="2400">
                <a:solidFill>
                  <a:schemeClr val="tx1"/>
                </a:solidFill>
                <a:sym typeface="+mn-ea"/>
              </a:rPr>
              <a:t>What we’ve learned:</a:t>
            </a:r>
            <a:endParaRPr lang="en-US" altLang="zh-CN" sz="2400">
              <a:solidFill>
                <a:schemeClr val="tx1"/>
              </a:solidFill>
              <a:sym typeface="+mn-ea"/>
            </a:endParaRPr>
          </a:p>
          <a:p>
            <a:r>
              <a:rPr lang="en-US" altLang="zh-CN" sz="2400"/>
              <a:t>- Our communication skills improved.</a:t>
            </a:r>
            <a:endParaRPr lang="en-US" altLang="zh-CN" sz="2400"/>
          </a:p>
          <a:p>
            <a:r>
              <a:rPr lang="en-US" altLang="zh-CN" sz="2400">
                <a:solidFill>
                  <a:schemeClr val="tx1"/>
                </a:solidFill>
              </a:rPr>
              <a:t>- With every discussion, we gained a deeper understanding of the project and became a much more cohesive team.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- Agile methodology throughout development.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6089" y="397243"/>
            <a:ext cx="3214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AI Usage </a:t>
            </a:r>
            <a:endParaRPr lang="en-US" altLang="zh-CN" sz="28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617855" y="1047750"/>
            <a:ext cx="1000252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- ChatGPT</a:t>
            </a:r>
            <a:endParaRPr lang="en-US" altLang="zh-CN" sz="2400"/>
          </a:p>
          <a:p>
            <a:pPr indent="457200"/>
            <a:r>
              <a:rPr lang="en-US" altLang="zh-CN" sz="2400"/>
              <a:t>1. Analyze the project, summarize technical highlights and core features, thereby help us write reports and make presentation.</a:t>
            </a:r>
            <a:endParaRPr lang="en-US" altLang="zh-CN" sz="2400"/>
          </a:p>
          <a:p>
            <a:pPr indent="457200"/>
            <a:r>
              <a:rPr lang="en-US" altLang="zh-CN" sz="2400"/>
              <a:t>2. Use OpenAI's API to perform natural language processing (NLP) for our projects: extract short titles from Amazon's titles; and use these short titles to query other platform APIs and determine which returned product titles best matched the original item.</a:t>
            </a:r>
            <a:endParaRPr lang="en-US" altLang="zh-CN" sz="2400"/>
          </a:p>
          <a:p>
            <a:pPr lvl="0" indent="457200"/>
            <a:endParaRPr lang="en-US" altLang="zh-CN" sz="2400"/>
          </a:p>
          <a:p>
            <a:pPr indent="457200"/>
            <a:endParaRPr lang="en-US" altLang="zh-CN" sz="2400"/>
          </a:p>
        </p:txBody>
      </p:sp>
      <p:sp>
        <p:nvSpPr>
          <p:cNvPr id="5" name="文本框 4"/>
          <p:cNvSpPr txBox="1"/>
          <p:nvPr/>
        </p:nvSpPr>
        <p:spPr>
          <a:xfrm>
            <a:off x="617855" y="3893185"/>
            <a:ext cx="10002520" cy="2585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- Claude</a:t>
            </a:r>
            <a:endParaRPr lang="en-US" altLang="zh-CN" sz="2400"/>
          </a:p>
          <a:p>
            <a:pPr indent="457200"/>
            <a:r>
              <a:rPr lang="en-US" altLang="zh-CN" sz="2400"/>
              <a:t>1. To enhance efficiency, we employed Claude to rapidly scaffold the project framework, while manually implementing detailed code logic ourselves, including all the feature and structure designing.</a:t>
            </a:r>
            <a:endParaRPr lang="en-US" altLang="zh-CN" sz="2400"/>
          </a:p>
          <a:p>
            <a:pPr indent="457200"/>
            <a:r>
              <a:rPr lang="en-US" altLang="zh-CN" sz="2400"/>
              <a:t>2. Quickly identify overlooked issues during debugging.</a:t>
            </a:r>
            <a:endParaRPr lang="en-US" altLang="zh-CN" sz="2400"/>
          </a:p>
          <a:p>
            <a:pPr lvl="0" indent="457200"/>
            <a:endParaRPr lang="en-US" altLang="zh-CN" sz="2400"/>
          </a:p>
          <a:p>
            <a:pPr indent="457200"/>
            <a:endParaRPr lang="en-US" altLang="zh-CN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1" cstate="screen">
            <a:alphaModFix amt="5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8938" y="635896"/>
            <a:ext cx="8783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Future Work / Stretch Goals</a:t>
            </a:r>
            <a:endParaRPr lang="zh-CN" altLang="en-US" sz="2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617855" y="1047750"/>
            <a:ext cx="1000252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- Stretch Goals</a:t>
            </a:r>
            <a:endParaRPr lang="en-US" altLang="zh-CN" sz="2400"/>
          </a:p>
          <a:p>
            <a:pPr indent="457200"/>
            <a:r>
              <a:rPr lang="en-US" altLang="zh-CN" sz="2400" b="1">
                <a:solidFill>
                  <a:schemeClr val="accent6"/>
                </a:solidFill>
              </a:rPr>
              <a:t>√</a:t>
            </a:r>
            <a:r>
              <a:rPr lang="en-US" altLang="zh-CN" sz="2400"/>
              <a:t>product sharing</a:t>
            </a:r>
            <a:endParaRPr lang="en-US" altLang="zh-CN" sz="2400"/>
          </a:p>
          <a:p>
            <a:pPr indent="457200"/>
            <a:r>
              <a:rPr lang="en-US" altLang="zh-CN" sz="2400" b="1">
                <a:solidFill>
                  <a:schemeClr val="accent6"/>
                </a:solidFill>
              </a:rPr>
              <a:t>√</a:t>
            </a:r>
            <a:r>
              <a:rPr lang="en-US" altLang="zh-CN" sz="2400"/>
              <a:t>personalized recommendations based on users’ browsing history</a:t>
            </a:r>
            <a:endParaRPr lang="en-US" altLang="zh-CN" sz="2400"/>
          </a:p>
          <a:p>
            <a:pPr indent="457200"/>
            <a:endParaRPr lang="en-US" altLang="zh-CN" sz="2400"/>
          </a:p>
          <a:p>
            <a:r>
              <a:rPr lang="en-US" altLang="zh-CN" sz="2400"/>
              <a:t>- Future Work</a:t>
            </a:r>
            <a:endParaRPr lang="en-US" altLang="zh-CN" sz="2400"/>
          </a:p>
          <a:p>
            <a:pPr indent="457200"/>
            <a:r>
              <a:rPr lang="en-US" altLang="zh-CN" sz="2400"/>
              <a:t>1. </a:t>
            </a:r>
            <a:r>
              <a:rPr lang="en-US" altLang="zh-CN" sz="2400"/>
              <a:t>Enhance search and recommendations using vector-based search.</a:t>
            </a:r>
            <a:endParaRPr lang="en-US" altLang="zh-CN" sz="2400"/>
          </a:p>
          <a:p>
            <a:pPr indent="457200"/>
            <a:r>
              <a:rPr lang="en-US" altLang="zh-CN" sz="2400"/>
              <a:t>2. Improve recommendation quality by weighting different user behaviors.</a:t>
            </a:r>
            <a:endParaRPr lang="en-US" altLang="zh-CN" sz="2400"/>
          </a:p>
          <a:p>
            <a:pPr indent="457200"/>
            <a:r>
              <a:rPr lang="en-US" altLang="zh-CN" sz="2400"/>
              <a:t>3. Populate the database with thousands of items.</a:t>
            </a:r>
            <a:endParaRPr lang="en-US" altLang="zh-CN" sz="2400"/>
          </a:p>
          <a:p>
            <a:pPr lvl="0" indent="457200"/>
            <a:endParaRPr lang="en-US" altLang="zh-CN" sz="2400"/>
          </a:p>
          <a:p>
            <a:pPr indent="457200"/>
            <a:endParaRPr lang="en-US" altLang="zh-CN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77585" y="1647050"/>
            <a:ext cx="783683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Thanks for Listening</a:t>
            </a:r>
            <a:endParaRPr lang="en-US" altLang="zh-CN" sz="8800" b="1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2566</Words>
  <Application>WPS 演示</Application>
  <PresentationFormat>宽屏</PresentationFormat>
  <Paragraphs>117</Paragraphs>
  <Slides>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Leyan</dc:creator>
  <cp:lastModifiedBy>Lov_J</cp:lastModifiedBy>
  <cp:revision>247</cp:revision>
  <dcterms:created xsi:type="dcterms:W3CDTF">2025-11-11T11:09:00Z</dcterms:created>
  <dcterms:modified xsi:type="dcterms:W3CDTF">2025-12-16T09:15:58Z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46E9AE3C10D9452A975B2A58AE8E3ED3_13</vt:lpwstr>
  </property>
  <property fmtid="{D5CDD505-2E9C-101B-9397-08002B2CF9AE}" pid="3" name="KSOProductBuildVer">
    <vt:lpwstr>2052-12.1.0.24034</vt:lpwstr>
  </property>
</Properties>
</file>